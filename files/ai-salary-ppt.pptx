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3"/>
    <p:sldId id="257" r:id="rId4"/>
    <p:sldId id="281" r:id="rId5"/>
    <p:sldId id="259" r:id="rId6"/>
    <p:sldId id="260" r:id="rId7"/>
    <p:sldId id="282" r:id="rId8"/>
    <p:sldId id="288" r:id="rId9"/>
    <p:sldId id="262" r:id="rId10"/>
    <p:sldId id="263" r:id="rId11"/>
    <p:sldId id="284" r:id="rId12"/>
    <p:sldId id="289" r:id="rId13"/>
    <p:sldId id="285" r:id="rId14"/>
    <p:sldId id="267" r:id="rId15"/>
    <p:sldId id="268" r:id="rId16"/>
    <p:sldId id="269" r:id="rId17"/>
    <p:sldId id="270" r:id="rId18"/>
    <p:sldId id="271" r:id="rId19"/>
    <p:sldId id="286" r:id="rId20"/>
    <p:sldId id="273" r:id="rId21"/>
    <p:sldId id="274" r:id="rId22"/>
    <p:sldId id="275" r:id="rId23"/>
    <p:sldId id="287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2" userDrawn="1">
          <p15:clr>
            <a:srgbClr val="A4A3A4"/>
          </p15:clr>
        </p15:guide>
        <p15:guide id="2" orient="horz" pos="21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04" y="192"/>
      </p:cViewPr>
      <p:guideLst>
        <p:guide pos="3842"/>
        <p:guide orient="horz" pos="211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194775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84426184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2A48B96-639E-45A3-A0BA-2464DFDB1FAA}" type="datetimeFigureOut">
              <a:rPr lang="zh-CN" altLang="en-US"/>
            </a:fld>
            <a:endParaRPr lang="zh-CN"/>
          </a:p>
        </p:txBody>
      </p:sp>
      <p:sp>
        <p:nvSpPr>
          <p:cNvPr id="930817429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913232021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565101770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67866843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837353-30EB-4A48-80EB-173D804AEFBD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2749180" name="图片 6" descr="logo-04"/>
          <p:cNvPicPr>
            <a:picLocks noChangeAspect="1"/>
          </p:cNvPicPr>
          <p:nvPr userDrawn="1"/>
        </p:nvPicPr>
        <p:blipFill rotWithShape="1">
          <a:blip r:embed="rId2"/>
          <a:srcRect r="39086"/>
          <a:stretch>
            <a:fillRect/>
          </a:stretch>
        </p:blipFill>
        <p:spPr bwMode="auto">
          <a:xfrm>
            <a:off x="-268605" y="-464820"/>
            <a:ext cx="2005965" cy="2175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104570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568508685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5660209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  <p:pic>
        <p:nvPicPr>
          <p:cNvPr id="816417248" name="图片 4" descr="ppt_画板 1 副本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 bwMode="auto">
          <a:xfrm>
            <a:off x="0" y="0"/>
            <a:ext cx="1220216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1798306" name="图片 6" descr="logo-08"/>
          <p:cNvPicPr>
            <a:picLocks noChangeAspect="1"/>
          </p:cNvPicPr>
          <p:nvPr userDrawn="1"/>
        </p:nvPicPr>
        <p:blipFill rotWithShape="1">
          <a:blip r:embed="rId2"/>
          <a:srcRect t="22290" b="29224"/>
          <a:stretch>
            <a:fillRect/>
          </a:stretch>
        </p:blipFill>
        <p:spPr bwMode="auto">
          <a:xfrm flipH="1">
            <a:off x="7479030" y="5943600"/>
            <a:ext cx="4865370" cy="914400"/>
          </a:xfrm>
          <a:prstGeom prst="rect">
            <a:avLst/>
          </a:prstGeom>
        </p:spPr>
      </p:pic>
      <p:pic>
        <p:nvPicPr>
          <p:cNvPr id="321387973" name="图片 7" descr="logo-08"/>
          <p:cNvPicPr>
            <a:picLocks noChangeAspect="1"/>
          </p:cNvPicPr>
          <p:nvPr userDrawn="1"/>
        </p:nvPicPr>
        <p:blipFill rotWithShape="1">
          <a:blip r:embed="rId2"/>
          <a:srcRect t="22290" b="29224"/>
          <a:stretch>
            <a:fillRect/>
          </a:stretch>
        </p:blipFill>
        <p:spPr bwMode="auto">
          <a:xfrm flipH="1">
            <a:off x="684530" y="6206152"/>
            <a:ext cx="3468370" cy="6518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397136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cap="none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zh-CN"/>
              <a:t>单击此处编辑标题</a:t>
            </a:r>
            <a:endParaRPr lang="zh-CN"/>
          </a:p>
        </p:txBody>
      </p:sp>
      <p:sp>
        <p:nvSpPr>
          <p:cNvPr id="256601039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lnSpc>
                <a:spcPct val="130000"/>
              </a:lnSpc>
              <a:buNone/>
              <a:defRPr lang="zh-CN" sz="18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单击此处编辑文本</a:t>
            </a:r>
            <a:endParaRPr lang="zh-CN"/>
          </a:p>
        </p:txBody>
      </p:sp>
      <p:sp>
        <p:nvSpPr>
          <p:cNvPr id="196627609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234510234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32103441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32855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>
              <a:lnSpc>
                <a:spcPct val="100000"/>
              </a:lnSpc>
              <a:buNone/>
              <a:defRPr lang="zh-CN" sz="3600" b="1" i="0" u="none" strike="noStrike" cap="none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cs typeface="+mj-cs"/>
              </a:defRPr>
            </a:lvl1pPr>
          </a:lstStyle>
          <a:p>
            <a:pPr lvl="0">
              <a:defRPr/>
            </a:pPr>
            <a:r>
              <a:t>单击此处编辑母版标题样式</a:t>
            </a:r>
          </a:p>
        </p:txBody>
      </p:sp>
      <p:sp>
        <p:nvSpPr>
          <p:cNvPr id="1940489758" name="内容占位符 2"/>
          <p:cNvSpPr>
            <a:spLocks noGrp="1"/>
          </p:cNvSpPr>
          <p:nvPr>
            <p:ph sz="half" idx="1"/>
          </p:nvPr>
        </p:nvSpPr>
        <p:spPr bwMode="auto"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685800" marR="0" lvl="1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tabLst>
                <a:tab pos="1609090" algn="l"/>
              </a:tabLst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2pPr>
            <a:lvl3pPr marL="1143000" marR="0" lvl="2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3pPr>
            <a:lvl4pPr marL="1600200" marR="0" lvl="3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/>
              <a:buChar char=""/>
              <a:defRPr lang="zh-CN" sz="14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4pPr>
            <a:lvl5pPr marL="2057400" marR="0" lvl="4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/>
              <a:buChar char="•"/>
              <a:defRPr lang="zh-CN" sz="14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5pPr>
          </a:lstStyle>
          <a:p>
            <a:pPr lvl="0">
              <a:defRPr/>
            </a:pPr>
            <a:r>
              <a:t>单击此处编辑母版文本样式</a:t>
            </a:r>
          </a:p>
          <a:p>
            <a:pPr lvl="1">
              <a:defRPr/>
            </a:pPr>
            <a:r>
              <a:t>第二级</a:t>
            </a:r>
          </a:p>
          <a:p>
            <a:pPr lvl="2">
              <a:defRPr/>
            </a:pPr>
            <a:r>
              <a:t>第三级</a:t>
            </a:r>
          </a:p>
          <a:p>
            <a:pPr lvl="3">
              <a:defRPr/>
            </a:pPr>
            <a:r>
              <a:t>第四级</a:t>
            </a:r>
          </a:p>
          <a:p>
            <a:pPr lvl="4">
              <a:defRPr/>
            </a:pPr>
            <a:r>
              <a:t>第五级</a:t>
            </a:r>
          </a:p>
        </p:txBody>
      </p:sp>
      <p:sp>
        <p:nvSpPr>
          <p:cNvPr id="633509865" name="内容占位符 3"/>
          <p:cNvSpPr>
            <a:spLocks noGrp="1"/>
          </p:cNvSpPr>
          <p:nvPr>
            <p:ph sz="half" idx="2"/>
          </p:nvPr>
        </p:nvSpPr>
        <p:spPr bwMode="auto"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spcAft>
                <a:spcPts val="600"/>
              </a:spcAft>
              <a:buFont typeface="Arial" panose="020B0604020202020204"/>
              <a:buChar char="●"/>
              <a:defRPr sz="160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1pPr>
            <a:lvl2pPr marL="685800" indent="-228600" defTabSz="914400">
              <a:lnSpc>
                <a:spcPct val="120000"/>
              </a:lnSpc>
              <a:buFont typeface="Arial" panose="020B0604020202020204"/>
              <a:buChar char="●"/>
              <a:tabLst>
                <a:tab pos="1609090" algn="l"/>
                <a:tab pos="1609090" algn="l"/>
                <a:tab pos="1609090" algn="l"/>
                <a:tab pos="1609090" algn="l"/>
              </a:tabLst>
              <a:defRPr sz="160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2pPr>
            <a:lvl3pPr marL="1143000" indent="-228600">
              <a:lnSpc>
                <a:spcPct val="120000"/>
              </a:lnSpc>
              <a:buFont typeface="Arial" panose="020B0604020202020204"/>
              <a:buChar char="●"/>
              <a:defRPr sz="160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3pPr>
            <a:lvl4pPr marL="1600200" indent="-228600">
              <a:lnSpc>
                <a:spcPct val="120000"/>
              </a:lnSpc>
              <a:buFont typeface="Wingdings" panose="05000000000000000000"/>
              <a:buChar char=""/>
              <a:defRPr sz="140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4pPr>
            <a:lvl5pPr>
              <a:lnSpc>
                <a:spcPct val="120000"/>
              </a:lnSpc>
              <a:defRPr sz="140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131955180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239478735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00025285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487038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>
              <a:lnSpc>
                <a:spcPct val="100000"/>
              </a:lnSpc>
              <a:buNone/>
              <a:defRPr lang="zh-CN" sz="3600" b="1" i="0" u="none" strike="noStrike" cap="none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cs typeface="+mj-cs"/>
              </a:defRPr>
            </a:lvl1pPr>
          </a:lstStyle>
          <a:p>
            <a:pPr lvl="0">
              <a:defRPr/>
            </a:pPr>
            <a:r>
              <a:t>单击此处编辑母版标题样式</a:t>
            </a:r>
          </a:p>
        </p:txBody>
      </p:sp>
      <p:sp>
        <p:nvSpPr>
          <p:cNvPr id="141253690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u="none" strike="noStrike" cap="none" spc="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单击此处编辑文本</a:t>
            </a:r>
            <a:endParaRPr lang="zh-CN"/>
          </a:p>
        </p:txBody>
      </p:sp>
      <p:sp>
        <p:nvSpPr>
          <p:cNvPr id="1230943335" name="内容占位符 3"/>
          <p:cNvSpPr>
            <a:spLocks noGrp="1"/>
          </p:cNvSpPr>
          <p:nvPr>
            <p:ph sz="half" idx="2"/>
          </p:nvPr>
        </p:nvSpPr>
        <p:spPr bwMode="auto"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685800" marR="0" lvl="1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tabLst>
                <a:tab pos="1609090" algn="l"/>
              </a:tabLst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2pPr>
            <a:lvl3pPr marL="1143000" marR="0" lvl="2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3pPr>
            <a:lvl4pPr marL="1600200" marR="0" lvl="3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/>
              <a:buChar char=""/>
              <a:defRPr lang="zh-CN" sz="14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4pPr>
            <a:lvl5pPr marL="2057400" marR="0" lvl="4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/>
              <a:buChar char="•"/>
              <a:defRPr lang="zh-CN" sz="14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5pPr>
          </a:lstStyle>
          <a:p>
            <a:pPr lvl="0">
              <a:defRPr/>
            </a:pPr>
            <a:r>
              <a:t>单击此处编辑母版文本样式</a:t>
            </a:r>
          </a:p>
          <a:p>
            <a:pPr lvl="1">
              <a:defRPr/>
            </a:pPr>
            <a:r>
              <a:t>第二级</a:t>
            </a:r>
          </a:p>
          <a:p>
            <a:pPr lvl="2">
              <a:defRPr/>
            </a:pPr>
            <a:r>
              <a:t>第三级</a:t>
            </a:r>
          </a:p>
          <a:p>
            <a:pPr lvl="3">
              <a:defRPr/>
            </a:pPr>
            <a:r>
              <a:t>第四级</a:t>
            </a:r>
          </a:p>
          <a:p>
            <a:pPr lvl="4">
              <a:defRPr/>
            </a:pPr>
            <a:r>
              <a:t>第五级</a:t>
            </a:r>
          </a:p>
        </p:txBody>
      </p:sp>
      <p:sp>
        <p:nvSpPr>
          <p:cNvPr id="1951582052" name="文本占位符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None/>
              <a:defRPr lang="zh-CN" sz="2000" b="1" i="0" u="none" strike="noStrike" cap="none" spc="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单击此处编辑文本</a:t>
            </a:r>
          </a:p>
        </p:txBody>
      </p:sp>
      <p:sp>
        <p:nvSpPr>
          <p:cNvPr id="1489735887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685800" marR="0" lvl="1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tabLst>
                <a:tab pos="1609090" algn="l"/>
              </a:tabLst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2pPr>
            <a:lvl3pPr marL="1143000" marR="0" lvl="2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●"/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3pPr>
            <a:lvl4pPr marL="1600200" marR="0" lvl="3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/>
              <a:buChar char=""/>
              <a:defRPr lang="zh-CN" sz="14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4pPr>
            <a:lvl5pPr marL="2057400" marR="0" lvl="4" indent="-228600" algn="l" defTabSz="914400" rt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/>
              <a:buChar char="•"/>
              <a:defRPr lang="zh-CN" sz="14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5pPr>
          </a:lstStyle>
          <a:p>
            <a:pPr lvl="0">
              <a:defRPr/>
            </a:pPr>
            <a:r>
              <a:t>单击此处编辑母版文本样式</a:t>
            </a:r>
          </a:p>
          <a:p>
            <a:pPr lvl="1">
              <a:defRPr/>
            </a:pPr>
            <a:r>
              <a:t>第二级</a:t>
            </a:r>
          </a:p>
          <a:p>
            <a:pPr lvl="2">
              <a:defRPr/>
            </a:pPr>
            <a:r>
              <a:t>第三级</a:t>
            </a:r>
          </a:p>
          <a:p>
            <a:pPr lvl="3">
              <a:defRPr/>
            </a:pPr>
            <a:r>
              <a:t>第四级</a:t>
            </a:r>
          </a:p>
          <a:p>
            <a:pPr lvl="4">
              <a:defRPr/>
            </a:pPr>
            <a:r>
              <a:t>第五级</a:t>
            </a:r>
          </a:p>
        </p:txBody>
      </p:sp>
      <p:sp>
        <p:nvSpPr>
          <p:cNvPr id="1487938717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93447477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13054864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468079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>
              <a:lnSpc>
                <a:spcPct val="100000"/>
              </a:lnSpc>
              <a:buNone/>
              <a:defRPr lang="zh-CN" sz="3600" b="1" i="0" u="none" strike="noStrike" cap="none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cs typeface="+mj-cs"/>
              </a:defRPr>
            </a:lvl1pPr>
          </a:lstStyle>
          <a:p>
            <a:pPr lvl="0">
              <a:defRPr/>
            </a:pPr>
            <a:r>
              <a:t>单击此处编辑母版标题样式</a:t>
            </a:r>
          </a:p>
        </p:txBody>
      </p:sp>
      <p:sp>
        <p:nvSpPr>
          <p:cNvPr id="1536558757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933769450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72925696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127470" name="图片占位符 2"/>
          <p:cNvSpPr>
            <a:spLocks noGrp="1"/>
          </p:cNvSpPr>
          <p:nvPr>
            <p:ph type="pic" idx="1"/>
          </p:nvPr>
        </p:nvSpPr>
        <p:spPr bwMode="auto"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None/>
              <a:defRPr lang="zh-CN" sz="16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685800" marR="0" lvl="1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  <a:tabLst>
                <a:tab pos="1609090" algn="l"/>
              </a:tabLst>
              <a:defRPr lang="zh-CN" sz="1600" b="0" i="0" u="none" strike="noStrike" cap="none" spc="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lvl="2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  <a:defRPr lang="zh-CN" sz="1600" b="0" i="0" u="none" strike="noStrike" cap="none" spc="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lvl="3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  <a:defRPr lang="zh-CN" sz="1600" b="0" i="0" u="none" strike="noStrike" cap="none" spc="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lvl="4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  <a:defRPr lang="zh-CN" sz="1600" b="0" i="0" u="none" strike="noStrike" cap="none" spc="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defRPr/>
            </a:pPr>
          </a:p>
        </p:txBody>
      </p:sp>
      <p:sp>
        <p:nvSpPr>
          <p:cNvPr id="1801093602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None/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457200" indent="0" defTabSz="914400">
              <a:buFont typeface="Arial" panose="020B0604020202020204"/>
              <a:buNone/>
              <a:tabLst>
                <a:tab pos="1609090" algn="l"/>
                <a:tab pos="1609090" algn="l"/>
                <a:tab pos="1609090" algn="l"/>
                <a:tab pos="1609090" algn="l"/>
              </a:tabLst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2pPr>
            <a:lvl3pPr>
              <a:buFont typeface="Arial" panose="020B0604020202020204"/>
              <a:buChar char="●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3pPr>
            <a:lvl4pPr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4pPr>
            <a:lvl5pPr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5pPr>
          </a:lstStyle>
          <a:p>
            <a:pPr lvl="0">
              <a:defRPr/>
            </a:pPr>
            <a:r>
              <a:t>单击此处编辑母版文本样式</a:t>
            </a:r>
          </a:p>
        </p:txBody>
      </p:sp>
      <p:sp>
        <p:nvSpPr>
          <p:cNvPr id="165002468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FD9D74-47D9-4702-A33C-335B63B48DBF}" type="datetimeFigureOut">
              <a:rPr lang="zh-CN" altLang="en-US"/>
            </a:fld>
            <a:endParaRPr lang="zh-CN"/>
          </a:p>
        </p:txBody>
      </p:sp>
      <p:sp>
        <p:nvSpPr>
          <p:cNvPr id="673889140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4471930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C47A4-756D-490B-A52F-7D9E2C9FC05F}" type="slidenum">
              <a:rPr lang="zh-CN"/>
            </a:fld>
            <a:endParaRPr lang="zh-CN"/>
          </a:p>
        </p:txBody>
      </p:sp>
      <p:sp>
        <p:nvSpPr>
          <p:cNvPr id="1493664446" name="标题 8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174529" name="竖排标题 1"/>
          <p:cNvSpPr>
            <a:spLocks noGrp="1"/>
          </p:cNvSpPr>
          <p:nvPr>
            <p:ph type="title" orient="vert" hasCustomPrompt="1"/>
          </p:nvPr>
        </p:nvSpPr>
        <p:spPr bwMode="auto"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>
              <a:lnSpc>
                <a:spcPct val="100000"/>
              </a:lnSpc>
              <a:spcAft>
                <a:spcPts val="0"/>
              </a:spcAft>
              <a:buNone/>
              <a:defRPr lang="zh-CN" sz="2800" b="1" i="0" u="none" strike="noStrike" cap="none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cs typeface="+mj-cs"/>
              </a:defRPr>
            </a:lvl1pPr>
          </a:lstStyle>
          <a:p>
            <a:pPr lvl="0">
              <a:defRPr/>
            </a:pPr>
            <a:r>
              <a:t>单击此处编辑标题</a:t>
            </a:r>
          </a:p>
        </p:txBody>
      </p:sp>
      <p:sp>
        <p:nvSpPr>
          <p:cNvPr id="1753215306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lnSpc>
                <a:spcPct val="130000"/>
              </a:lnSpc>
              <a:spcAft>
                <a:spcPts val="1000"/>
              </a:spcAft>
              <a:buFont typeface="Arial" panose="020B0604020202020204"/>
              <a:buChar char="●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/>
              <a:buChar char="●"/>
              <a:tabLst>
                <a:tab pos="1609090" algn="l"/>
                <a:tab pos="1609090" algn="l"/>
                <a:tab pos="1609090" algn="l"/>
                <a:tab pos="1609090" algn="l"/>
              </a:tabLst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/>
              <a:buChar char="●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anose="05000000000000000000"/>
              <a:buChar char="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/>
              <a:buChar char="•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29291575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444065426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979581525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667702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081430504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59735042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  <p:sp>
        <p:nvSpPr>
          <p:cNvPr id="1322578839" name="内容占位符 6"/>
          <p:cNvSpPr>
            <a:spLocks noGrp="1"/>
          </p:cNvSpPr>
          <p:nvPr>
            <p:ph sz="quarter" idx="13"/>
          </p:nvPr>
        </p:nvSpPr>
        <p:spPr bwMode="auto"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Arial" panose="020B0604020202020204"/>
              <a:buChar char="●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 defTabSz="914400">
              <a:lnSpc>
                <a:spcPct val="120000"/>
              </a:lnSpc>
              <a:buFont typeface="Arial" panose="020B0604020202020204"/>
              <a:buChar char="●"/>
              <a:tabLst>
                <a:tab pos="1609090" algn="l"/>
                <a:tab pos="1609090" algn="l"/>
                <a:tab pos="1609090" algn="l"/>
                <a:tab pos="1609090" algn="l"/>
              </a:tabLst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buFont typeface="Arial" panose="020B0604020202020204"/>
              <a:buChar char="●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buFont typeface="Wingdings" panose="05000000000000000000"/>
              <a:buChar char="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buFont typeface="Arial" panose="020B0604020202020204"/>
              <a:buChar char="•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709148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668570593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231045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  <p:sp>
        <p:nvSpPr>
          <p:cNvPr id="1890875288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>
              <a:lnSpc>
                <a:spcPct val="100000"/>
              </a:lnSpc>
              <a:buNone/>
              <a:defRPr lang="zh-CN" sz="6000" b="1" i="0" u="none" strike="noStrike" cap="none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cs typeface="+mj-cs"/>
              </a:defRPr>
            </a:lvl1pPr>
          </a:lstStyle>
          <a:p>
            <a:pPr lvl="0">
              <a:defRPr/>
            </a:pPr>
            <a:r>
              <a:t>单击此处编辑标题</a:t>
            </a:r>
          </a:p>
        </p:txBody>
      </p:sp>
      <p:sp>
        <p:nvSpPr>
          <p:cNvPr id="2014424802" name="文本占位符 6"/>
          <p:cNvSpPr>
            <a:spLocks noGrp="1"/>
          </p:cNvSpPr>
          <p:nvPr>
            <p:ph type="body" sz="quarter" idx="13"/>
          </p:nvPr>
        </p:nvSpPr>
        <p:spPr bwMode="auto"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839461" name="标题占位符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8259007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87033532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1pPr>
          </a:lstStyle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45853058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35425203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1pPr>
          </a:lstStyle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100000"/>
        </a:lnSpc>
        <a:spcBef>
          <a:spcPts val="0"/>
        </a:spcBef>
        <a:buNone/>
        <a:defRPr sz="3600" b="1" u="none" strike="noStrike" cap="none" spc="300">
          <a:solidFill>
            <a:schemeClr val="tx1">
              <a:lumMod val="85000"/>
              <a:lumOff val="15000"/>
            </a:schemeClr>
          </a:solidFill>
          <a:latin typeface="Arial" panose="020B0604020202020204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strike="noStrike" cap="none" spc="15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微软雅黑" panose="020B0503020204020204" charset="-122"/>
          <a:cs typeface="+mn-cs"/>
        </a:defRPr>
      </a:lvl1pPr>
      <a:lvl2pPr marL="685800" indent="-228600" algn="l" defTabSz="9144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cap="none" spc="15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微软雅黑" panose="020B0503020204020204" charset="-122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strike="noStrike" cap="none" spc="15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微软雅黑" panose="020B0503020204020204" charset="-122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cap="none" spc="15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微软雅黑" panose="020B0503020204020204" charset="-122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strike="noStrike" cap="none" spc="150">
          <a:solidFill>
            <a:schemeClr val="tx1">
              <a:lumMod val="65000"/>
              <a:lumOff val="35000"/>
            </a:schemeClr>
          </a:solidFill>
          <a:latin typeface="Arial" panose="020B0604020202020204"/>
          <a:ea typeface="微软雅黑" panose="020B0503020204020204" charset="-122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000" y="600000"/>
            <a:ext cx="9800000" cy="2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0000" y="1000000"/>
            <a:ext cx="98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5C2D1A"/>
                </a:solidFill>
                <a:latin typeface="微软雅黑" panose="020B0503020204020204" charset="-122"/>
              </a:rPr>
              <a:t>全球AI与数据岗位薪资预测
模型构建与分析</a:t>
            </a:r>
            <a:endParaRPr sz="42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00150" y="2747010"/>
            <a:ext cx="9799955" cy="294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200" b="0">
                <a:solidFill>
                  <a:srgbClr val="B88F4D"/>
                </a:solidFill>
                <a:latin typeface="微软雅黑" panose="020B0503020204020204" charset="-122"/>
              </a:rPr>
              <a:t>—— 项目汇报 ——</a:t>
            </a:r>
            <a:endParaRPr sz="2200" b="0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00000" y="2650000"/>
            <a:ext cx="4600000" cy="2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150" y="4537710"/>
            <a:ext cx="9799955" cy="374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0">
                <a:solidFill>
                  <a:srgbClr val="777777"/>
                </a:solidFill>
                <a:latin typeface="微软雅黑" panose="020B0503020204020204" charset="-122"/>
              </a:rPr>
              <a:t> 2026年</a:t>
            </a:r>
            <a:r>
              <a:rPr lang="en-US" sz="1400" b="0">
                <a:solidFill>
                  <a:srgbClr val="777777"/>
                </a:solidFill>
                <a:latin typeface="微软雅黑" panose="020B0503020204020204" charset="-122"/>
              </a:rPr>
              <a:t>6</a:t>
            </a:r>
            <a:r>
              <a:rPr lang="zh-CN" altLang="en-US" sz="1400" b="0">
                <a:solidFill>
                  <a:srgbClr val="777777"/>
                </a:solidFill>
                <a:latin typeface="微软雅黑" panose="020B0503020204020204" charset="-122"/>
              </a:rPr>
              <a:t>月</a:t>
            </a:r>
            <a:r>
              <a:rPr lang="en-US" altLang="zh-CN" sz="1400" b="0">
                <a:solidFill>
                  <a:srgbClr val="777777"/>
                </a:solidFill>
                <a:latin typeface="微软雅黑" panose="020B0503020204020204" charset="-122"/>
              </a:rPr>
              <a:t>9</a:t>
            </a:r>
            <a:r>
              <a:rPr lang="zh-CN" altLang="en-US" sz="1400" b="0">
                <a:solidFill>
                  <a:srgbClr val="777777"/>
                </a:solidFill>
                <a:latin typeface="微软雅黑" panose="020B0503020204020204" charset="-122"/>
              </a:rPr>
              <a:t>日</a:t>
            </a:r>
            <a:endParaRPr lang="zh-CN" altLang="en-US" sz="1400" b="0">
              <a:solidFill>
                <a:srgbClr val="777777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0150" y="3586480"/>
            <a:ext cx="9799955" cy="916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zh-CN" sz="1600" b="0">
                <a:solidFill>
                  <a:srgbClr val="5C2D1A"/>
                </a:solidFill>
                <a:latin typeface="微软雅黑" panose="020B0503020204020204" charset="-122"/>
              </a:rPr>
              <a:t>组长：施佳琪</a:t>
            </a:r>
            <a:r>
              <a:rPr sz="1600" b="0">
                <a:solidFill>
                  <a:srgbClr val="5C2D1A"/>
                </a:solidFill>
                <a:latin typeface="微软雅黑" panose="020B0503020204020204" charset="-122"/>
              </a:rPr>
              <a:t>  </a:t>
            </a:r>
            <a:endParaRPr sz="1600" b="0">
              <a:solidFill>
                <a:srgbClr val="5C2D1A"/>
              </a:solidFill>
              <a:latin typeface="微软雅黑" panose="020B0503020204020204" charset="-122"/>
            </a:endParaRPr>
          </a:p>
          <a:p>
            <a:pPr algn="ctr"/>
            <a:r>
              <a:rPr lang="zh-CN" sz="1600" b="0">
                <a:solidFill>
                  <a:srgbClr val="5C2D1A"/>
                </a:solidFill>
                <a:latin typeface="微软雅黑" panose="020B0503020204020204" charset="-122"/>
              </a:rPr>
              <a:t>组员：</a:t>
            </a:r>
            <a:r>
              <a:rPr lang="zh-CN" altLang="en-US" sz="1600" b="0">
                <a:solidFill>
                  <a:srgbClr val="5C2D1A"/>
                </a:solidFill>
                <a:latin typeface="微软雅黑" panose="020B0503020204020204" charset="-122"/>
              </a:rPr>
              <a:t>徐梓涵</a:t>
            </a:r>
            <a:r>
              <a:rPr sz="1600" b="0">
                <a:solidFill>
                  <a:srgbClr val="5C2D1A"/>
                </a:solidFill>
                <a:latin typeface="微软雅黑" panose="020B0503020204020204" charset="-122"/>
              </a:rPr>
              <a:t> |  </a:t>
            </a:r>
            <a:r>
              <a:rPr lang="zh-CN" altLang="en-US" sz="1600" b="0">
                <a:solidFill>
                  <a:srgbClr val="5C2D1A"/>
                </a:solidFill>
                <a:latin typeface="微软雅黑" panose="020B0503020204020204" charset="-122"/>
              </a:rPr>
              <a:t>汪彦廷</a:t>
            </a:r>
            <a:r>
              <a:rPr sz="1600" b="0">
                <a:solidFill>
                  <a:srgbClr val="5C2D1A"/>
                </a:solidFill>
                <a:latin typeface="微软雅黑" panose="020B0503020204020204" charset="-122"/>
              </a:rPr>
              <a:t>  |  </a:t>
            </a:r>
            <a:r>
              <a:rPr lang="zh-CN" altLang="en-US" sz="1600" b="0">
                <a:solidFill>
                  <a:srgbClr val="5C2D1A"/>
                </a:solidFill>
                <a:latin typeface="微软雅黑" panose="020B0503020204020204" charset="-122"/>
              </a:rPr>
              <a:t>黄梓涵</a:t>
            </a:r>
            <a:r>
              <a:rPr sz="1600" b="0">
                <a:solidFill>
                  <a:srgbClr val="5C2D1A"/>
                </a:solidFill>
                <a:latin typeface="微软雅黑" panose="020B0503020204020204" charset="-122"/>
              </a:rPr>
              <a:t>  |</a:t>
            </a:r>
            <a:r>
              <a:rPr lang="en-US" sz="1600" b="0">
                <a:solidFill>
                  <a:srgbClr val="5C2D1A"/>
                </a:solidFill>
                <a:latin typeface="微软雅黑" panose="020B0503020204020204" charset="-122"/>
              </a:rPr>
              <a:t> </a:t>
            </a:r>
            <a:r>
              <a:rPr lang="zh-CN" altLang="en-US" sz="1600" b="0">
                <a:solidFill>
                  <a:srgbClr val="5C2D1A"/>
                </a:solidFill>
                <a:latin typeface="微软雅黑" panose="020B0503020204020204" charset="-122"/>
              </a:rPr>
              <a:t>蒋蕊语</a:t>
            </a:r>
            <a:endParaRPr lang="zh-CN" altLang="en-US" sz="1600" b="0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0000" y="5600000"/>
            <a:ext cx="9800000" cy="2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40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C2D1A"/>
                </a:solidFill>
                <a:latin typeface="微软雅黑" panose="020B0503020204020204" charset="-122"/>
              </a:rPr>
              <a:t>目  录</a:t>
            </a:r>
            <a:endParaRPr sz="38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0000" y="950000"/>
            <a:ext cx="9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88F4D"/>
                </a:solidFill>
                <a:latin typeface="微软雅黑" panose="020B0503020204020204" charset="-122"/>
              </a:rPr>
              <a:t>CONTENTS</a:t>
            </a:r>
            <a:endParaRPr sz="1400" b="0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00000" y="1300000"/>
            <a:ext cx="3000000" cy="2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>
            <p:custDataLst>
              <p:tags r:id="rId1"/>
            </p:custDataLst>
          </p:nvPr>
        </p:nvSpPr>
        <p:spPr>
          <a:xfrm>
            <a:off x="1600000" y="1720000"/>
            <a:ext cx="440000" cy="440000"/>
          </a:xfrm>
          <a:prstGeom prst="ellipse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2250000" y="1690000"/>
            <a:ext cx="70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2D1A"/>
                </a:solidFill>
                <a:latin typeface="微软雅黑" panose="020B0503020204020204" charset="-122"/>
              </a:rPr>
              <a:t>项目总览</a:t>
            </a:r>
            <a:endParaRPr sz="22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8" name="Oval 7"/>
          <p:cNvSpPr/>
          <p:nvPr>
            <p:custDataLst>
              <p:tags r:id="rId3"/>
            </p:custDataLst>
          </p:nvPr>
        </p:nvSpPr>
        <p:spPr>
          <a:xfrm>
            <a:off x="1600000" y="2419200"/>
            <a:ext cx="440000" cy="440000"/>
          </a:xfrm>
          <a:prstGeom prst="ellipse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2250000" y="3064840"/>
            <a:ext cx="70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2D1A"/>
                </a:solidFill>
                <a:latin typeface="微软雅黑" panose="020B0503020204020204" charset="-122"/>
              </a:rPr>
              <a:t>EDA探索性数据分析</a:t>
            </a:r>
            <a:endParaRPr sz="22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>
            <p:custDataLst>
              <p:tags r:id="rId5"/>
            </p:custDataLst>
          </p:nvPr>
        </p:nvSpPr>
        <p:spPr>
          <a:xfrm>
            <a:off x="1600000" y="3748320"/>
            <a:ext cx="440000" cy="440000"/>
          </a:xfrm>
          <a:prstGeom prst="ellipse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</a:t>
            </a:r>
            <a:r>
              <a:rPr lang="en-US" sz="20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lang="en-US"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2250000" y="3713240"/>
            <a:ext cx="70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2D1A"/>
                </a:solidFill>
                <a:latin typeface="微软雅黑" panose="020B0503020204020204" charset="-122"/>
              </a:rPr>
              <a:t>特征工程</a:t>
            </a:r>
            <a:endParaRPr sz="22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>
            <p:custDataLst>
              <p:tags r:id="rId7"/>
            </p:custDataLst>
          </p:nvPr>
        </p:nvSpPr>
        <p:spPr>
          <a:xfrm>
            <a:off x="1600000" y="4386560"/>
            <a:ext cx="440000" cy="440000"/>
          </a:xfrm>
          <a:prstGeom prst="ellipse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</a:t>
            </a:r>
            <a:r>
              <a:rPr lang="en-US" sz="20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lang="en-US"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250000" y="4371800"/>
            <a:ext cx="70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2D1A"/>
                </a:solidFill>
                <a:latin typeface="微软雅黑" panose="020B0503020204020204" charset="-122"/>
              </a:rPr>
              <a:t>线性模型建模</a:t>
            </a:r>
            <a:endParaRPr sz="22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>
            <p:custDataLst>
              <p:tags r:id="rId9"/>
            </p:custDataLst>
          </p:nvPr>
        </p:nvSpPr>
        <p:spPr>
          <a:xfrm>
            <a:off x="1600000" y="5085760"/>
            <a:ext cx="440000" cy="440000"/>
          </a:xfrm>
          <a:prstGeom prst="ellipse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</a:t>
            </a:r>
            <a:r>
              <a:rPr lang="en-US" sz="20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lang="en-US"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2250000" y="5111640"/>
            <a:ext cx="70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2D1A"/>
                </a:solidFill>
                <a:latin typeface="微软雅黑" panose="020B0503020204020204" charset="-122"/>
              </a:rPr>
              <a:t>非线性模型建模</a:t>
            </a:r>
            <a:endParaRPr sz="22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00000" y="5700000"/>
            <a:ext cx="9000000" cy="12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7"/>
          <p:cNvSpPr/>
          <p:nvPr>
            <p:custDataLst>
              <p:tags r:id="rId11"/>
            </p:custDataLst>
          </p:nvPr>
        </p:nvSpPr>
        <p:spPr>
          <a:xfrm>
            <a:off x="1600000" y="3064360"/>
            <a:ext cx="440000" cy="440000"/>
          </a:xfrm>
          <a:prstGeom prst="ellipse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</a:t>
            </a:r>
            <a:r>
              <a:rPr lang="en-US" sz="20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lang="en-US"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8"/>
          <p:cNvSpPr txBox="1"/>
          <p:nvPr>
            <p:custDataLst>
              <p:tags r:id="rId12"/>
            </p:custDataLst>
          </p:nvPr>
        </p:nvSpPr>
        <p:spPr>
          <a:xfrm>
            <a:off x="2244920" y="2404440"/>
            <a:ext cx="70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200" b="1">
                <a:solidFill>
                  <a:srgbClr val="5C2D1A"/>
                </a:solidFill>
                <a:latin typeface="微软雅黑" panose="020B0503020204020204" charset="-122"/>
              </a:rPr>
              <a:t>数据清洗与质量</a:t>
            </a:r>
            <a:r>
              <a:rPr lang="zh-CN" sz="2200" b="1">
                <a:solidFill>
                  <a:srgbClr val="5C2D1A"/>
                </a:solidFill>
                <a:latin typeface="微软雅黑" panose="020B0503020204020204" charset="-122"/>
              </a:rPr>
              <a:t>验证</a:t>
            </a:r>
            <a:endParaRPr lang="zh-CN" sz="22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8F4D"/>
                </a:solidFill>
                <a:latin typeface="微软雅黑" panose="020B0503020204020204" charset="-122"/>
              </a:rPr>
              <a:t>01</a:t>
            </a:r>
            <a:endParaRPr sz="72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0000" y="3100000"/>
            <a:ext cx="2500000" cy="36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3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2D1A"/>
                </a:solidFill>
                <a:latin typeface="微软雅黑" panose="020B0503020204020204" charset="-122"/>
              </a:rPr>
              <a:t>项目总览</a:t>
            </a:r>
            <a:endParaRPr sz="3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40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 panose="020B0503020204020204" charset="-122"/>
              </a:rPr>
              <a:t>Project Overview — 全球AI与数据岗位薪资预测模型</a:t>
            </a:r>
            <a:endParaRPr sz="16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00" y="5800000"/>
            <a:ext cx="10500000" cy="1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研究主题与项目目标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000" y="12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▎研究主题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0100" y="1664970"/>
            <a:ext cx="10499725" cy="7397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</a:rPr>
              <a:t>以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</a:rPr>
              <a:t>2020-2026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</a:rPr>
              <a:t>年全球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</a:rPr>
              <a:t>AI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</a:rPr>
              <a:t>与数据类岗位为研究对象，基于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</a:rPr>
              <a:t>9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</a:rPr>
              <a:t>万条招聘数据，使用机器学习的方法建立薪资预测模型，分析学历、地区、工作年限等因素对薪资的影响，让求职者可以预测自己的薪资。</a:t>
            </a: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265" y="2645410"/>
            <a:ext cx="2200275" cy="231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▎项目目标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265" y="3117215"/>
            <a:ext cx="10499725" cy="17481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● 本项目旨在探究AI与数据科学等相关领域求职者的不同特征对薪资的影响规律。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● AI与数据科学等相关领域的求职者在面试与职业规划过程中，凭借该模型，可以得到预测薪资与职业路径规划的决策参考。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● 项目成果也可为企业的岗位薪酬定价提供数据依据。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0000" y="5200000"/>
            <a:ext cx="105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项目分工和主要流程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000" y="120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▎项目分工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50265" y="1579880"/>
          <a:ext cx="9116060" cy="2045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885"/>
                <a:gridCol w="1908175"/>
                <a:gridCol w="2938145"/>
                <a:gridCol w="2903855"/>
              </a:tblGrid>
              <a:tr h="34099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角色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姓名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学号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工作分工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组长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施佳琪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241820092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统筹工作、数据集筛选、数据清洗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组员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徐梓涵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241810051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特征工程、撰写特征工程章节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组员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汪彦廷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241051002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非线性模型建模、模型评估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组员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黄梓涵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241051007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线性模型建模、模型评估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组员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蒋蕊语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241820058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eda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分析、制作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ppt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、整合最终报告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265" y="3883025"/>
            <a:ext cx="2499995" cy="4051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▎主要流程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265" y="4321175"/>
            <a:ext cx="10499725" cy="7918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● </a:t>
            </a: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</a:rPr>
              <a:t>数据集筛选</a:t>
            </a:r>
            <a:r>
              <a:rPr sz="14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→</a:t>
            </a:r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数据清洗 → 统计性描述分析 → 特征工程 → 机器学习建模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● 模型评估与解释 → 构建薪资预测交互</a:t>
            </a: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</a:rPr>
              <a:t>工具</a:t>
            </a:r>
            <a:endParaRPr lang="zh-CN" sz="14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350000"/>
            <a:ext cx="105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2D1A"/>
                </a:solidFill>
                <a:latin typeface="微软雅黑" panose="020B0503020204020204" charset="-122"/>
              </a:rPr>
              <a:t>数据集说明</a:t>
            </a:r>
            <a:endParaRPr sz="28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1200000" cy="36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000000"/>
            <a:ext cx="10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 panose="020B0503020204020204" charset="-122"/>
              </a:rPr>
              <a:t>Dataset Description</a:t>
            </a:r>
            <a:endParaRPr sz="14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0000" y="180000"/>
            <a:ext cx="36000" cy="52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795" y="2061845"/>
            <a:ext cx="10200005" cy="408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数据来源：Kaggle — Global AI and Data Jobs Salary Dataset</a:t>
            </a:r>
            <a:endParaRPr sz="16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9795" y="2470785"/>
            <a:ext cx="10200005" cy="233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https://www.kaggle.com/datasets/mohankrishnathalla/global-ai-and-data-jobs-salary-dataset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9795" y="2818765"/>
          <a:ext cx="11000105" cy="2160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120"/>
                <a:gridCol w="7499985"/>
              </a:tblGrid>
              <a:tr h="38925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属性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说明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B88F4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数据规模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9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万条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EEE1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数据结构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1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张主表，记录岗位的具体要求，涉及该岗位的国家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地区、工作角色、薪资、学历、工作经验要求、工作技能、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ai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方向等共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34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个属性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数据集问题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EE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1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）部分数据存在共线性问题。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  <a:p>
                      <a:pPr algn="l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使用机器学习的方法构建模型，将重点放在构建拟合度较好的模型，而非解释数据关系上。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  <a:p>
                      <a:pPr algn="l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）为合成数据。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  <a:p>
                      <a:pPr algn="l"/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通过在前期对样本进行样本分布均衡性分析、属性间相关性分析和维度显著性检验，验证数据结构稳定、合理。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EEE1"/>
                    </a:solidFill>
                  </a:tcPr>
                </a:tc>
              </a:tr>
            </a:tbl>
          </a:graphicData>
        </a:graphic>
      </p:graphicFrame>
      <p:pic>
        <p:nvPicPr>
          <p:cNvPr id="87954969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885" y="280035"/>
            <a:ext cx="3803015" cy="2538730"/>
          </a:xfrm>
          <a:prstGeom prst="rect">
            <a:avLst/>
          </a:prstGeom>
        </p:spPr>
      </p:pic>
      <p:pic>
        <p:nvPicPr>
          <p:cNvPr id="1954350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030" y="1188085"/>
            <a:ext cx="8555355" cy="4899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43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43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0"/>
            <a:ext cx="3000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8F4D"/>
                </a:solidFill>
                <a:latin typeface="微软雅黑" panose="020B0503020204020204" charset="-122"/>
              </a:rPr>
              <a:t>0</a:t>
            </a:r>
            <a:r>
              <a:rPr lang="en-US" sz="7200" b="1">
                <a:solidFill>
                  <a:srgbClr val="B88F4D"/>
                </a:solidFill>
                <a:latin typeface="微软雅黑" panose="020B0503020204020204" charset="-122"/>
              </a:rPr>
              <a:t>2</a:t>
            </a:r>
            <a:endParaRPr lang="en-US" sz="72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0000" y="3100000"/>
            <a:ext cx="2500000" cy="36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300000"/>
            <a:ext cx="10000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3600" b="1">
                <a:solidFill>
                  <a:srgbClr val="5C2D1A"/>
                </a:solidFill>
                <a:latin typeface="微软雅黑" panose="020B0503020204020204" charset="-122"/>
              </a:rPr>
              <a:t>数据清洗与质量</a:t>
            </a:r>
            <a:r>
              <a:rPr lang="zh-CN" sz="3600" b="1">
                <a:solidFill>
                  <a:srgbClr val="5C2D1A"/>
                </a:solidFill>
                <a:latin typeface="微软雅黑" panose="020B0503020204020204" charset="-122"/>
              </a:rPr>
              <a:t>验证</a:t>
            </a:r>
            <a:endParaRPr lang="zh-CN" sz="3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4000000"/>
            <a:ext cx="100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>
                <a:solidFill>
                  <a:srgbClr val="666666"/>
                </a:solidFill>
                <a:latin typeface="微软雅黑" panose="020B0503020204020204" charset="-122"/>
              </a:rPr>
              <a:t>Data</a:t>
            </a:r>
            <a:r>
              <a:rPr sz="1600" b="0">
                <a:solidFill>
                  <a:srgbClr val="666666"/>
                </a:solidFill>
                <a:latin typeface="微软雅黑" panose="020B0503020204020204" charset="-122"/>
              </a:rPr>
              <a:t> </a:t>
            </a:r>
            <a:r>
              <a:rPr lang="en-US" sz="1600" b="0">
                <a:solidFill>
                  <a:srgbClr val="666666"/>
                </a:solidFill>
                <a:latin typeface="微软雅黑" panose="020B0503020204020204" charset="-122"/>
              </a:rPr>
              <a:t>Cleaning</a:t>
            </a:r>
            <a:r>
              <a:rPr sz="1600" b="0">
                <a:solidFill>
                  <a:srgbClr val="666666"/>
                </a:solidFill>
                <a:latin typeface="微软雅黑" panose="020B0503020204020204" charset="-122"/>
              </a:rPr>
              <a:t> — </a:t>
            </a:r>
            <a:r>
              <a:rPr lang="zh-CN" sz="1600" b="0">
                <a:solidFill>
                  <a:srgbClr val="666666"/>
                </a:solidFill>
                <a:latin typeface="微软雅黑" panose="020B0503020204020204" charset="-122"/>
              </a:rPr>
              <a:t>为后续工作</a:t>
            </a:r>
            <a:r>
              <a:rPr lang="zh-CN" sz="1600" b="0">
                <a:solidFill>
                  <a:srgbClr val="666666"/>
                </a:solidFill>
                <a:latin typeface="微软雅黑" panose="020B0503020204020204" charset="-122"/>
              </a:rPr>
              <a:t>打下基础</a:t>
            </a:r>
            <a:endParaRPr lang="zh-CN" sz="16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00" y="5800000"/>
            <a:ext cx="10500000" cy="1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数据清洗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000" y="1200000"/>
            <a:ext cx="35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1. </a:t>
            </a:r>
            <a:r>
              <a:rPr lang="zh-CN" altLang="en-US" sz="1600" b="1">
                <a:solidFill>
                  <a:srgbClr val="B88F4D"/>
                </a:solidFill>
                <a:latin typeface="微软雅黑" panose="020B0503020204020204" charset="-122"/>
              </a:rPr>
              <a:t>噪声修复与数值平滑</a:t>
            </a:r>
            <a:endParaRPr lang="zh-CN" altLang="en-US" sz="16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000" y="1550000"/>
            <a:ext cx="10500000" cy="542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● </a:t>
            </a:r>
            <a:r>
              <a:rPr lang="zh-CN" altLang="en-US" sz="1300" b="0">
                <a:solidFill>
                  <a:srgbClr val="333333"/>
                </a:solidFill>
                <a:latin typeface="微软雅黑" panose="020B0503020204020204" charset="-122"/>
              </a:rPr>
              <a:t>处理对象</a:t>
            </a:r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：salary_usd（年薪）、bonus_usd（奖金）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● 平滑策略：</a:t>
            </a:r>
            <a:r>
              <a:rPr lang="zh-CN" altLang="en-US" sz="1300" b="0">
                <a:solidFill>
                  <a:srgbClr val="333333"/>
                </a:solidFill>
                <a:latin typeface="微软雅黑" panose="020B0503020204020204" charset="-122"/>
              </a:rPr>
              <a:t>采用百位取整逻辑（</a:t>
            </a:r>
            <a:r>
              <a:rPr lang="en-US" altLang="zh-CN" sz="1300" b="0">
                <a:solidFill>
                  <a:srgbClr val="333333"/>
                </a:solidFill>
                <a:latin typeface="微软雅黑" panose="020B0503020204020204" charset="-122"/>
              </a:rPr>
              <a:t>Precision=100</a:t>
            </a:r>
            <a:r>
              <a:rPr lang="zh-CN" altLang="en-US" sz="1300" b="0">
                <a:solidFill>
                  <a:srgbClr val="333333"/>
                </a:solidFill>
                <a:latin typeface="微软雅黑" panose="020B0503020204020204" charset="-122"/>
              </a:rPr>
              <a:t>），将数值统一聚拢至整百档位。</a:t>
            </a:r>
            <a:endParaRPr lang="zh-CN" altLang="en-US"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000" y="24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2. 关键维度序数映射 (Ordinal Mapping)</a:t>
            </a:r>
            <a:endParaRPr sz="16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000" y="2750000"/>
            <a:ext cx="10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字段映射等级如下：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50000" y="3080000"/>
          <a:ext cx="10800000" cy="1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800000"/>
                <a:gridCol w="5200000"/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 (Feature)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对应字段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映射等级 (Rank)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学历等级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edu_rank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1:Bootcamp, 2:Diploma, 3:Bachelor, 4:Master, 5:PhD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职级等级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level_rank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1:Entry, 2:Mid, 3:Senior, 4:Lead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规模等级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size_rank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1:Startup, 2:Small, 3:Medium, 4:Large, 5:Enterprise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数据质量验证与维度核查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265" y="889000"/>
            <a:ext cx="3999865" cy="3968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B88F4D"/>
                </a:solidFill>
                <a:latin typeface="微软雅黑" panose="020B0503020204020204" charset="-122"/>
              </a:rPr>
              <a:t>目的：</a:t>
            </a:r>
            <a:r>
              <a:rPr lang="zh-CN" altLang="en-US" sz="1500" b="1">
                <a:solidFill>
                  <a:srgbClr val="B88F4D"/>
                </a:solidFill>
                <a:latin typeface="微软雅黑" panose="020B0503020204020204" charset="-122"/>
              </a:rPr>
              <a:t>确保数据集达到</a:t>
            </a:r>
            <a:r>
              <a:rPr lang="en-US" altLang="zh-CN" sz="1500" b="1">
                <a:solidFill>
                  <a:srgbClr val="B88F4D"/>
                </a:solidFill>
                <a:latin typeface="微软雅黑" panose="020B0503020204020204" charset="-122"/>
              </a:rPr>
              <a:t>“</a:t>
            </a:r>
            <a:r>
              <a:rPr lang="zh-CN" altLang="en-US" sz="1500" b="1">
                <a:solidFill>
                  <a:srgbClr val="B88F4D"/>
                </a:solidFill>
                <a:latin typeface="微软雅黑" panose="020B0503020204020204" charset="-122"/>
              </a:rPr>
              <a:t>分析就绪</a:t>
            </a:r>
            <a:r>
              <a:rPr lang="en-US" altLang="zh-CN" sz="1500" b="1">
                <a:solidFill>
                  <a:srgbClr val="B88F4D"/>
                </a:solidFill>
                <a:latin typeface="微软雅黑" panose="020B0503020204020204" charset="-122"/>
              </a:rPr>
              <a:t>”</a:t>
            </a:r>
            <a:r>
              <a:rPr lang="zh-CN" altLang="en-US" sz="1500" b="1">
                <a:solidFill>
                  <a:srgbClr val="B88F4D"/>
                </a:solidFill>
                <a:latin typeface="微软雅黑" panose="020B0503020204020204" charset="-122"/>
              </a:rPr>
              <a:t>标准。</a:t>
            </a:r>
            <a:endParaRPr lang="zh-CN" altLang="en-US" sz="15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000" y="1550000"/>
            <a:ext cx="50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1. </a:t>
            </a:r>
            <a:r>
              <a:rPr lang="zh-CN" altLang="en-US" sz="1600" b="1">
                <a:solidFill>
                  <a:srgbClr val="B88F4D"/>
                </a:solidFill>
                <a:latin typeface="微软雅黑" panose="020B0503020204020204" charset="-122"/>
              </a:rPr>
              <a:t>字段完整性与合规性核查</a:t>
            </a:r>
            <a:endParaRPr lang="zh-CN" altLang="en-US" sz="16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265" y="1880235"/>
            <a:ext cx="4999990" cy="2345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</a:pP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针对合成数据可能存在的结构化问题进行了全量扫描：</a:t>
            </a: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spcAft>
                <a:spcPts val="400"/>
              </a:spcAft>
              <a:buFont typeface="Wingdings" panose="05000000000000000000" charset="0"/>
              <a:buChar char="l"/>
            </a:pP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零缺失值校验：通过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isnull().mean() 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确认所有字段的缺失率均为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0%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spcAft>
                <a:spcPts val="400"/>
              </a:spcAft>
              <a:buFont typeface="Wingdings" panose="05000000000000000000" charset="0"/>
              <a:buNone/>
            </a:pP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spcAft>
                <a:spcPts val="400"/>
              </a:spcAft>
              <a:buFont typeface="Wingdings" panose="05000000000000000000" charset="0"/>
              <a:buChar char="l"/>
            </a:pP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类型安全检查：核实了各列的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dtypes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，确保数值字段无意外字符串污染，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Rank 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字段均为整数类型。</a:t>
            </a: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spcAft>
                <a:spcPts val="400"/>
              </a:spcAft>
              <a:buFont typeface="Wingdings" panose="05000000000000000000" charset="0"/>
              <a:buNone/>
            </a:pP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spcAft>
                <a:spcPts val="400"/>
              </a:spcAft>
              <a:buFont typeface="Wingdings" panose="05000000000000000000" charset="0"/>
              <a:buChar char="l"/>
            </a:pP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分布合理性：利用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describe() 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审计数值分布，确认薪资及购买力指标无负数或逻辑异常极值。</a:t>
            </a: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00140" y="1550035"/>
            <a:ext cx="4999990" cy="329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2. What-if 维度质量核查</a:t>
            </a:r>
            <a:endParaRPr sz="16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00000" y="1880000"/>
            <a:ext cx="5000000" cy="2009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为确保模拟器前端下拉菜单的整洁与准确，对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个核心类别字段进行了唯一值核查：</a:t>
            </a: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spcAft>
                <a:spcPts val="400"/>
              </a:spcAft>
              <a:buFont typeface="Wingdings" panose="05000000000000000000" charset="0"/>
              <a:buChar char="l"/>
            </a:pP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核查字段：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education_required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ai_specialization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work_mode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industry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country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job_role</a:t>
            </a:r>
            <a:r>
              <a:rPr lang="zh-CN" altLang="en-US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lang="en-US" altLang="zh-CN"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lang="en-US" altLang="zh-CN" sz="12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lang="en-US" altLang="zh-CN"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0"/>
            <a:ext cx="3000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8F4D"/>
                </a:solidFill>
                <a:latin typeface="微软雅黑" panose="020B0503020204020204" charset="-122"/>
              </a:rPr>
              <a:t>0</a:t>
            </a:r>
            <a:r>
              <a:rPr lang="en-US" sz="7200" b="1">
                <a:solidFill>
                  <a:srgbClr val="B88F4D"/>
                </a:solidFill>
                <a:latin typeface="微软雅黑" panose="020B0503020204020204" charset="-122"/>
              </a:rPr>
              <a:t>3</a:t>
            </a:r>
            <a:endParaRPr lang="en-US" sz="72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0000" y="3100000"/>
            <a:ext cx="2500000" cy="36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3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2D1A"/>
                </a:solidFill>
                <a:latin typeface="微软雅黑" panose="020B0503020204020204" charset="-122"/>
              </a:rPr>
              <a:t>EDA探索性数据分析</a:t>
            </a:r>
            <a:endParaRPr sz="3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40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 panose="020B0503020204020204" charset="-122"/>
              </a:rPr>
              <a:t>Exploratory Data Analysis — 为建模建立数据认知基础</a:t>
            </a:r>
            <a:endParaRPr sz="16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00" y="5800000"/>
            <a:ext cx="10500000" cy="1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EDA 探索性数据分析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265" y="816610"/>
            <a:ext cx="10499725" cy="3638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▎EDA 做了什么，以及为什么不需要单独展开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265" y="1186180"/>
            <a:ext cx="11059160" cy="27882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charset="0"/>
              <a:buChar char="l"/>
            </a:pPr>
            <a:r>
              <a:rPr sz="1200" b="1">
                <a:solidFill>
                  <a:srgbClr val="B88F4D"/>
                </a:solidFill>
                <a:latin typeface="微软雅黑" panose="020B0503020204020204" charset="-122"/>
              </a:rPr>
              <a:t> </a:t>
            </a:r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做了什么：</a:t>
            </a:r>
            <a:endParaRPr sz="1200" b="1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完成了薪资分布分析、What-if 维度 ANOVA 检验、特征相关性排名、地区购买力校正、样本均衡性验证及 VIF 多重共线性检验，共六项分析任务，输出了建模所需的特征候选集与数据认知基础。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marL="171450" indent="-171450" algn="l">
              <a:spcAft>
                <a:spcPts val="300"/>
              </a:spcAft>
              <a:buFont typeface="Wingdings" panose="05000000000000000000" charset="0"/>
              <a:buChar char="l"/>
            </a:pPr>
            <a:r>
              <a:rPr sz="1200" b="1">
                <a:solidFill>
                  <a:srgbClr val="B88F4D"/>
                </a:solidFill>
                <a:latin typeface="微软雅黑" panose="020B0503020204020204" charset="-122"/>
              </a:rPr>
              <a:t> </a:t>
            </a:r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为什么不单独展开</a:t>
            </a:r>
            <a:r>
              <a:rPr lang="zh-CN" sz="1600" b="1">
                <a:solidFill>
                  <a:srgbClr val="B88F4D"/>
                </a:solidFill>
                <a:latin typeface="微软雅黑" panose="020B0503020204020204" charset="-122"/>
              </a:rPr>
              <a:t>：</a:t>
            </a:r>
            <a:endParaRPr sz="1200" b="1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</a:rPr>
              <a:t>合成数据，结构已知：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数据集为按规则生成的合成数据，零缺失值、分布稳定，不存在真实数据中需要 EDA 来发现的脏数据问题。EDA 的"发现异常"功能在本项目中意义有限。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</a:rPr>
              <a:t>结论已被后续步骤覆盖</a:t>
            </a:r>
            <a:r>
              <a:rPr sz="1200" b="1">
                <a:solidFill>
                  <a:srgbClr val="B88F4D"/>
                </a:solidFill>
                <a:latin typeface="微软雅黑" panose="020B0503020204020204" charset="-122"/>
              </a:rPr>
              <a:t>：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EDA 发现的对数变换需求已在数据预处理阶段完成；特征相关性筛选已由 Filter / RFE / Lasso 三种方法系统替代；共线性问题已由 VIF 检验在预处理阶段处理。EDA 作为独立模块存在内容重叠，造成冗余。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</a:rPr>
              <a:t>项目目标是预测，不是解释：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本项目核心目标是构建高精度薪资预测模型，而非解释变量间关系。数据集说明中也明确指出"重点放在拟合度而非解释性"，因此 EDA</a:t>
            </a:r>
            <a:r>
              <a:rPr lang="zh-CN" sz="1200" b="0">
                <a:solidFill>
                  <a:srgbClr val="333333"/>
                </a:solidFill>
                <a:latin typeface="微软雅黑" panose="020B0503020204020204" charset="-122"/>
              </a:rPr>
              <a:t>只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作为辅助性前期工作</a:t>
            </a:r>
            <a:r>
              <a:rPr lang="zh-CN" sz="1200" b="0">
                <a:solidFill>
                  <a:srgbClr val="333333"/>
                </a:solidFill>
                <a:latin typeface="微软雅黑" panose="020B0503020204020204" charset="-122"/>
              </a:rPr>
              <a:t>。</a:t>
            </a:r>
            <a:endParaRPr lang="zh-CN"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265" y="3497580"/>
            <a:ext cx="3999865" cy="477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▎EDA 核心结论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50265" y="3975735"/>
          <a:ext cx="10800080" cy="255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5200015"/>
                <a:gridCol w="3199765"/>
              </a:tblGrid>
              <a:tr h="36449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分析维度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关键发现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建模建议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目标变量分布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salary_usd 正偏态（偏态系数 0.747），对数变换后 -0.308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建模使用 log(salary_usd)，在数据预处理阶段完成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What-if 维度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仅学历要求（p=0.032）显著；AI领域/公司规模/工作模式均不显著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学历作为模型维度；其余维度在建模结果中备注说明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相关性分析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experience_years(r=0.724)、bonus_usd(r=0.752)为最强预测因子；total_comp 与目标 r=0.995 → 信息泄露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total_comp 剔除；其余特征在特征工程阶段确定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多重共线性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experience_years 与 level_rank 高度共线(r=0.95)；employee_satisfaction 与 job_security_score VIF&gt;99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 experience_years，剔除 level_rank；job_security_score 后续排查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数据平衡性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8个AI专业类别均超11,000样本，20个国家分布均衡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数据分布均匀，无需加权或重采样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0"/>
            <a:ext cx="3000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8F4D"/>
                </a:solidFill>
                <a:latin typeface="微软雅黑" panose="020B0503020204020204" charset="-122"/>
              </a:rPr>
              <a:t>0</a:t>
            </a:r>
            <a:r>
              <a:rPr lang="en-US" sz="7200" b="1">
                <a:solidFill>
                  <a:srgbClr val="B88F4D"/>
                </a:solidFill>
                <a:latin typeface="微软雅黑" panose="020B0503020204020204" charset="-122"/>
              </a:rPr>
              <a:t>4</a:t>
            </a:r>
            <a:endParaRPr lang="en-US" sz="72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0000" y="3100000"/>
            <a:ext cx="2500000" cy="36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3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2D1A"/>
                </a:solidFill>
                <a:latin typeface="微软雅黑" panose="020B0503020204020204" charset="-122"/>
              </a:rPr>
              <a:t>特征工程</a:t>
            </a:r>
            <a:endParaRPr sz="3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40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 panose="020B0503020204020204" charset="-122"/>
              </a:rPr>
              <a:t>Feature Engineering — Filter / RFE / Lasso 三种方法对比筛选</a:t>
            </a:r>
            <a:endParaRPr sz="16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00" y="5800000"/>
            <a:ext cx="10500000" cy="1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特征工程 —— 任务定位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000" y="120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▎主要目标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000" y="1550000"/>
            <a:ext cx="10500000" cy="152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将清洗后数据转化为模型可使用的特征矩阵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排除具有目标泄露风险的字段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分别使用 Filter、RFE、Lasso 三种方法进行特征筛选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通过统一线性回归的5折交叉验证比较各方案表现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最终确定一组交付建模使用的特征集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000" y="330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▎工作流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000" y="3650000"/>
            <a:ext cx="105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删除泄露字段 → One-Hot编码 → 标准化 → 特征筛选方法 → 统一比较 → 输出最终特征矩阵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50265" y="4010025"/>
          <a:ext cx="7666355" cy="1731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240"/>
                <a:gridCol w="5873115"/>
              </a:tblGrid>
              <a:tr h="299720"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zh-CN" sz="1400" b="1">
                          <a:latin typeface="宋体" panose="02010600030101010101" pitchFamily="2" charset="-122"/>
                          <a:ea typeface="微软雅黑" panose="020B0503020204020204" charset="-122"/>
                        </a:rPr>
                        <a:t>方法</a:t>
                      </a:r>
                      <a:endParaRPr lang="zh-CN" sz="1400" b="1">
                        <a:latin typeface="宋体" panose="02010600030101010101" pitchFamily="2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zh-CN" sz="1400" b="1">
                          <a:latin typeface="Times New Roman" panose="02020603050405020304"/>
                          <a:ea typeface="微软雅黑" panose="020B0503020204020204" charset="-122"/>
                        </a:rPr>
                        <a:t>优势</a:t>
                      </a:r>
                      <a:endParaRPr lang="zh-CN" sz="1400" b="1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B88F4D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微软雅黑" panose="020B0503020204020204" charset="-122"/>
                        </a:rPr>
                        <a:t>Filter</a:t>
                      </a:r>
                      <a:endParaRPr lang="en-US" altLang="zh-CN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F5E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微软雅黑" panose="020B0503020204020204" charset="-122"/>
                        </a:rPr>
                        <a:t>快速、直观，先看单个变量和薪资有没有关系</a:t>
                      </a:r>
                      <a:endParaRPr lang="zh-CN" sz="1400">
                        <a:latin typeface="宋体" panose="02010600030101010101" pitchFamily="2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F5EEE1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微软雅黑" panose="020B0503020204020204" charset="-122"/>
                        </a:rPr>
                        <a:t>RFE</a:t>
                      </a:r>
                      <a:endParaRPr lang="en-US" altLang="zh-CN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微软雅黑" panose="020B0503020204020204" charset="-122"/>
                        </a:rPr>
                        <a:t>看特征组合的预测效果，比</a:t>
                      </a:r>
                      <a:r>
                        <a:rPr lang="en-US" altLang="zh-CN" sz="1400">
                          <a:latin typeface="Times New Roman" panose="02020603050405020304"/>
                          <a:ea typeface="微软雅黑" panose="020B0503020204020204" charset="-122"/>
                        </a:rPr>
                        <a:t>Filter</a:t>
                      </a:r>
                      <a:r>
                        <a:rPr lang="zh-CN" sz="1400">
                          <a:latin typeface="宋体" panose="02010600030101010101" pitchFamily="2" charset="-122"/>
                          <a:ea typeface="微软雅黑" panose="020B0503020204020204" charset="-122"/>
                        </a:rPr>
                        <a:t>更接近建模目标</a:t>
                      </a:r>
                      <a:endParaRPr lang="zh-CN" sz="1400">
                        <a:latin typeface="宋体" panose="02010600030101010101" pitchFamily="2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FFFFFF"/>
                    </a:solidFill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微软雅黑" panose="020B0503020204020204" charset="-122"/>
                        </a:rPr>
                        <a:t>Lasso</a:t>
                      </a:r>
                      <a:endParaRPr lang="en-US" altLang="zh-CN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F5E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微软雅黑" panose="020B0503020204020204" charset="-122"/>
                        </a:rPr>
                        <a:t>自动压缩冗余变量，适合</a:t>
                      </a:r>
                      <a:r>
                        <a:rPr lang="en-US" altLang="zh-CN" sz="1400">
                          <a:latin typeface="Times New Roman" panose="02020603050405020304"/>
                          <a:ea typeface="微软雅黑" panose="020B0503020204020204" charset="-122"/>
                        </a:rPr>
                        <a:t>One-Hot</a:t>
                      </a:r>
                      <a:r>
                        <a:rPr lang="zh-CN" sz="1400">
                          <a:latin typeface="宋体" panose="02010600030101010101" pitchFamily="2" charset="-122"/>
                          <a:ea typeface="微软雅黑" panose="020B0503020204020204" charset="-122"/>
                        </a:rPr>
                        <a:t>后特征较多的情况</a:t>
                      </a:r>
                      <a:endParaRPr lang="zh-CN" sz="1400">
                        <a:latin typeface="宋体" panose="02010600030101010101" pitchFamily="2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solidFill>
                      <a:srgbClr val="F5EE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方法一：Filter 过滤法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860000"/>
            <a:ext cx="107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Filter</a:t>
            </a:r>
            <a:r>
              <a:rPr lang="zh-CN" altLang="en-US" sz="160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：先看单个特征与薪资的关系</a:t>
            </a:r>
            <a:endParaRPr lang="zh-CN" altLang="en-US" sz="1600" b="1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000" y="1248095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主要步骤</a:t>
            </a:r>
            <a:endParaRPr sz="16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000" y="1580000"/>
            <a:ext cx="50000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400"/>
              </a:spcAft>
              <a:buAutoNum type="arabicPeriod"/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计算每个特征与 log_salary 的相关系数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400"/>
              </a:spcAft>
              <a:buAutoNum type="arabicPeriod"/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 保留相关性较强的变量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400"/>
              </a:spcAft>
              <a:buAutoNum type="arabicPeriod"/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 剔除高度相关的重复变量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marL="342900" indent="-342900" algn="l">
              <a:spcAft>
                <a:spcPts val="400"/>
              </a:spcAft>
              <a:buAutoNum type="arabicPeriod"/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 得到第一组候选特征集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9630" y="3070225"/>
            <a:ext cx="3324860" cy="414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▎结果：最终保留 29 个变量</a:t>
            </a:r>
            <a:endParaRPr sz="1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3470" y="3868420"/>
            <a:ext cx="10106660" cy="1356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88F4D"/>
                </a:solidFill>
                <a:latin typeface="微软雅黑" panose="020B0503020204020204" charset="-122"/>
              </a:rPr>
              <a:t>● experience_years</a:t>
            </a:r>
            <a:endParaRPr sz="16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88F4D"/>
                </a:solidFill>
                <a:latin typeface="微软雅黑" panose="020B0503020204020204" charset="-122"/>
              </a:rPr>
              <a:t>● level_rank</a:t>
            </a:r>
            <a:endParaRPr sz="16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88F4D"/>
                </a:solidFill>
                <a:latin typeface="微软雅黑" panose="020B0503020204020204" charset="-122"/>
              </a:rPr>
              <a:t>● employee_satisfaction</a:t>
            </a:r>
            <a:endParaRPr sz="16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88F4D"/>
                </a:solidFill>
                <a:latin typeface="微软雅黑" panose="020B0503020204020204" charset="-122"/>
              </a:rPr>
              <a:t>● layoff_risk</a:t>
            </a:r>
            <a:endParaRPr sz="16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88F4D"/>
                </a:solidFill>
                <a:latin typeface="微软雅黑" panose="020B0503020204020204" charset="-122"/>
              </a:rPr>
              <a:t>● country_India</a:t>
            </a:r>
            <a:endParaRPr sz="1600" b="0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094105" y="3568065"/>
            <a:ext cx="2803525" cy="4787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 panose="020B0503020204020204" charset="-122"/>
              </a:rPr>
              <a:t>相关性较高的代表性特征：</a:t>
            </a:r>
            <a:endParaRPr sz="16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pic>
        <p:nvPicPr>
          <p:cNvPr id="14" name="图片 1" descr="filter_corr_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0" y="1330325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方法二：Wrapper / RFE</a:t>
            </a:r>
            <a:r>
              <a:rPr lang="zh-CN" altLang="en-US" sz="2600" b="1">
                <a:solidFill>
                  <a:srgbClr val="5C2D1A"/>
                </a:solidFill>
                <a:latin typeface="微软雅黑" panose="020B0503020204020204" charset="-122"/>
              </a:rPr>
              <a:t>包裹法</a:t>
            </a:r>
            <a:endParaRPr lang="zh-CN" altLang="en-US"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860000"/>
            <a:ext cx="107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77777"/>
                </a:solidFill>
                <a:latin typeface="微软雅黑" panose="020B0503020204020204" charset="-122"/>
              </a:rPr>
              <a:t>RFE：通过模型表现递归筛选特征</a:t>
            </a:r>
            <a:endParaRPr sz="1600" b="1">
              <a:solidFill>
                <a:srgbClr val="777777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000" y="125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主要步骤</a:t>
            </a:r>
            <a:endParaRPr sz="16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265" y="1579880"/>
            <a:ext cx="524637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使用较多特征训练线性回归模型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根据模型表现和特征贡献，</a:t>
            </a:r>
            <a:r>
              <a:rPr lang="zh-CN" altLang="en-US" sz="1600" b="0">
                <a:solidFill>
                  <a:srgbClr val="333333"/>
                </a:solidFill>
                <a:latin typeface="微软雅黑" panose="020B0503020204020204" charset="-122"/>
              </a:rPr>
              <a:t>逐步删除较弱特征</a:t>
            </a:r>
            <a:endParaRPr lang="zh-CN" altLang="en-US"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在不同特征数量下比较5折交叉验证 RMSE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找到表现较好的特征组合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265" y="2919730"/>
            <a:ext cx="44361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▎结果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6295" y="3362960"/>
            <a:ext cx="461391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2D1A"/>
                </a:solidFill>
                <a:latin typeface="微软雅黑" panose="020B0503020204020204" charset="-122"/>
              </a:rPr>
              <a:t>RFE 最终保留 71 个变量</a:t>
            </a:r>
            <a:endParaRPr sz="15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635" y="5041900"/>
            <a:ext cx="5304155" cy="8032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RFE 的预测效果明显优于 Filter，说明递归筛选确实比单变量筛选更有效。但特征偏多，模型解释和部署成本较高。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pic>
        <p:nvPicPr>
          <p:cNvPr id="15" name="图片 2" descr="rfe_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0255" y="1078865"/>
            <a:ext cx="5486400" cy="39624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36295" y="3800157"/>
            <a:ext cx="5080000" cy="1198880"/>
          </a:xfrm>
          <a:prstGeom prst="rect">
            <a:avLst/>
          </a:prstGeom>
        </p:spPr>
        <p:txBody>
          <a:bodyPr>
            <a:spAutoFit/>
          </a:bodyPr>
          <a:p>
            <a:pPr defTabSz="26670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CV-RMSE(log)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0.112455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266700">
              <a:spcBef>
                <a:spcPts val="900"/>
              </a:spcBef>
              <a:spcAft>
                <a:spcPts val="900"/>
              </a:spcAft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R²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0.944551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266700">
              <a:spcBef>
                <a:spcPts val="900"/>
              </a:spcBef>
              <a:spcAft>
                <a:spcPts val="900"/>
              </a:spcAft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$11,559.40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方法三：Embedded / Lasso 嵌入法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860000"/>
            <a:ext cx="107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77777"/>
                </a:solidFill>
                <a:latin typeface="微软雅黑" panose="020B0503020204020204" charset="-122"/>
              </a:rPr>
              <a:t>Lasso 在训练过程中自动压缩特征</a:t>
            </a:r>
            <a:endParaRPr sz="1600" b="1">
              <a:solidFill>
                <a:srgbClr val="777777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135" y="1196975"/>
            <a:ext cx="11353800" cy="6369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在建模过程中加入 L1 正则化，会自动将一些贡献较小的特征系数压缩为 0。系数不为 0 的特征保留，系数为 0 的特征被剔除。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265" y="1568450"/>
            <a:ext cx="2999740" cy="424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▎结果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265" y="1948180"/>
            <a:ext cx="4999990" cy="3448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5C2D1A"/>
                </a:solidFill>
                <a:latin typeface="微软雅黑" panose="020B0503020204020204" charset="-122"/>
              </a:rPr>
              <a:t>Lasso 最终保留 38 个变量</a:t>
            </a:r>
            <a:endParaRPr sz="15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1535" y="3882390"/>
            <a:ext cx="6012815" cy="514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▎保留的 Top 特征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900" y="4345305"/>
            <a:ext cx="10349230" cy="18554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88F4D"/>
                </a:solidFill>
                <a:latin typeface="微软雅黑" panose="020B0503020204020204" charset="-122"/>
              </a:rPr>
              <a:t>●</a:t>
            </a:r>
            <a:r>
              <a:rPr sz="1400" b="0">
                <a:solidFill>
                  <a:srgbClr val="B88F4D"/>
                </a:solidFill>
                <a:latin typeface="微软雅黑" panose="020B0503020204020204" charset="-122"/>
              </a:rPr>
              <a:t> country_India</a:t>
            </a:r>
            <a:endParaRPr sz="14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8F4D"/>
                </a:solidFill>
                <a:latin typeface="微软雅黑" panose="020B0503020204020204" charset="-122"/>
              </a:rPr>
              <a:t>● experience_years</a:t>
            </a:r>
            <a:endParaRPr sz="14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8F4D"/>
                </a:solidFill>
                <a:latin typeface="微软雅黑" panose="020B0503020204020204" charset="-122"/>
              </a:rPr>
              <a:t>● country_Brazil</a:t>
            </a:r>
            <a:endParaRPr sz="14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8F4D"/>
                </a:solidFill>
                <a:latin typeface="微软雅黑" panose="020B0503020204020204" charset="-122"/>
              </a:rPr>
              <a:t>● job_role_Data.Analyst</a:t>
            </a:r>
            <a:endParaRPr sz="14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8F4D"/>
                </a:solidFill>
                <a:latin typeface="微软雅黑" panose="020B0503020204020204" charset="-122"/>
              </a:rPr>
              <a:t>● country_USA</a:t>
            </a:r>
            <a:endParaRPr sz="14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8F4D"/>
                </a:solidFill>
                <a:latin typeface="微软雅黑" panose="020B0503020204020204" charset="-122"/>
              </a:rPr>
              <a:t>● level_rank</a:t>
            </a:r>
            <a:endParaRPr sz="1400" b="0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8F4D"/>
                </a:solidFill>
                <a:latin typeface="微软雅黑" panose="020B0503020204020204" charset="-122"/>
              </a:rPr>
              <a:t>● employee_satisfaction</a:t>
            </a:r>
            <a:endParaRPr sz="1400" b="0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49630" y="2399665"/>
            <a:ext cx="7786370" cy="137668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spcBef>
                <a:spcPts val="900"/>
              </a:spcBef>
              <a:spcAft>
                <a:spcPts val="90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CV-RMSE(log)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0.112437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266700">
              <a:spcBef>
                <a:spcPts val="900"/>
              </a:spcBef>
              <a:spcAft>
                <a:spcPts val="90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R²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0.944545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266700">
              <a:spcBef>
                <a:spcPts val="900"/>
              </a:spcBef>
              <a:spcAft>
                <a:spcPts val="90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$11,559.35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5" descr="lasso_coef_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1705" y="1988185"/>
            <a:ext cx="4022090" cy="4057015"/>
          </a:xfrm>
          <a:prstGeom prst="rect">
            <a:avLst/>
          </a:prstGeom>
        </p:spPr>
      </p:pic>
      <p:pic>
        <p:nvPicPr>
          <p:cNvPr id="17" name="图片 3" descr="lasso_lambda_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825" y="2159000"/>
            <a:ext cx="4311015" cy="3114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600" b="1">
                <a:solidFill>
                  <a:srgbClr val="5C2D1A"/>
                </a:solidFill>
                <a:latin typeface="微软雅黑" panose="020B0503020204020204" charset="-122"/>
              </a:rPr>
              <a:t>三种方法对比与最终结论</a:t>
            </a:r>
            <a:endParaRPr lang="zh-CN" altLang="en-US"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50265" y="1149985"/>
          <a:ext cx="10200005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399540"/>
                <a:gridCol w="1800225"/>
                <a:gridCol w="1800225"/>
                <a:gridCol w="1999615"/>
                <a:gridCol w="1600200"/>
              </a:tblGrid>
              <a:tr h="72517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特征数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CV-RMSE(log)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测试集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</a:t>
                      </a:r>
                      <a:r>
                        <a:rPr lang="en-US" altLang="en-US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²</a:t>
                      </a:r>
                      <a:endParaRPr lang="en-US" altLang="en-US"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测试集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RMSE($)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是否采用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72517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Filter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29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0.118052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0.938926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$12,191.81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否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72517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RFE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71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0.112455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0.944551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$11,559.40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备选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72517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Lasso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38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0.112437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0.944545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$11,559.35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uFillTx/>
                          <a:latin typeface="微软雅黑" panose="020B0503020204020204" charset="-122"/>
                        </a:rPr>
                        <a:t>最终采用</a:t>
                      </a:r>
                      <a:endParaRPr sz="1600" b="1">
                        <a:solidFill>
                          <a:srgbClr val="333333"/>
                        </a:solidFill>
                        <a:uFillTx/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0000" y="4300000"/>
            <a:ext cx="40000" cy="45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0000" y="4315000"/>
            <a:ext cx="10430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2D1A"/>
                </a:solidFill>
                <a:latin typeface="微软雅黑" panose="020B0503020204020204" charset="-122"/>
              </a:rPr>
              <a:t>★ 最终决策：</a:t>
            </a:r>
            <a:r>
              <a:rPr lang="zh-CN" altLang="en-US" sz="2000" b="1">
                <a:solidFill>
                  <a:srgbClr val="5C2D1A"/>
                </a:solidFill>
                <a:latin typeface="微软雅黑" panose="020B0503020204020204" charset="-122"/>
              </a:rPr>
              <a:t>后续建模优先使用</a:t>
            </a:r>
            <a:r>
              <a:rPr lang="en-US" altLang="zh-CN" sz="2000" b="1">
                <a:solidFill>
                  <a:srgbClr val="5C2D1A"/>
                </a:solidFill>
                <a:latin typeface="微软雅黑" panose="020B0503020204020204" charset="-122"/>
              </a:rPr>
              <a:t>Lasso</a:t>
            </a:r>
            <a:r>
              <a:rPr lang="zh-CN" altLang="en-US" sz="2000" b="1">
                <a:solidFill>
                  <a:srgbClr val="5C2D1A"/>
                </a:solidFill>
                <a:latin typeface="微软雅黑" panose="020B0503020204020204" charset="-122"/>
              </a:rPr>
              <a:t>选出的</a:t>
            </a:r>
            <a:r>
              <a:rPr lang="en-US" altLang="zh-CN" sz="2000" b="1">
                <a:solidFill>
                  <a:srgbClr val="5C2D1A"/>
                </a:solidFill>
                <a:latin typeface="微软雅黑" panose="020B0503020204020204" charset="-122"/>
              </a:rPr>
              <a:t>38</a:t>
            </a:r>
            <a:r>
              <a:rPr lang="zh-CN" altLang="en-US" sz="2000" b="1">
                <a:solidFill>
                  <a:srgbClr val="5C2D1A"/>
                </a:solidFill>
                <a:latin typeface="微软雅黑" panose="020B0503020204020204" charset="-122"/>
              </a:rPr>
              <a:t>个特征，因为它在预测精度、特征数量和可解释性之间达到了较好的平衡。</a:t>
            </a:r>
            <a:endParaRPr lang="zh-CN" altLang="en-US" sz="20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0"/>
            <a:ext cx="3000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8F4D"/>
                </a:solidFill>
                <a:latin typeface="微软雅黑" panose="020B0503020204020204" charset="-122"/>
              </a:rPr>
              <a:t>0</a:t>
            </a:r>
            <a:r>
              <a:rPr lang="en-US" sz="7200" b="1">
                <a:solidFill>
                  <a:srgbClr val="B88F4D"/>
                </a:solidFill>
                <a:latin typeface="微软雅黑" panose="020B0503020204020204" charset="-122"/>
              </a:rPr>
              <a:t>5</a:t>
            </a:r>
            <a:endParaRPr lang="en-US" sz="72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0000" y="3100000"/>
            <a:ext cx="2500000" cy="36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3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2D1A"/>
                </a:solidFill>
                <a:latin typeface="微软雅黑" panose="020B0503020204020204" charset="-122"/>
              </a:rPr>
              <a:t>线性模型建模</a:t>
            </a:r>
            <a:endParaRPr sz="3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40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 panose="020B0503020204020204" charset="-122"/>
              </a:rPr>
              <a:t>Linear Model Building — OLS · Ridge · Lasso 基准线建立</a:t>
            </a:r>
            <a:endParaRPr sz="16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00" y="5800000"/>
            <a:ext cx="10500000" cy="1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建模目标与整体思路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265" y="1200150"/>
            <a:ext cx="2499995" cy="280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▎任务定位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000" y="1530000"/>
            <a:ext cx="500000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●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建立线性模型性能基准线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对比无正则化（OLS）、L2正则化（Ridge）、L1正则化（Lasso）的效果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为后续树模型（随机森林 / XGBoost）提供参照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265" y="3170555"/>
            <a:ext cx="2499995" cy="6108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▎工作流程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00000" y="120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▎为什么选择 Ridge 和 Lasso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00000" y="1550000"/>
            <a:ext cx="5000000" cy="1619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Ridge（L2）：检验多重共线性是否仍影响系数稳定性。若 Ridge 提升泛化性能，说明共线性未完全消除。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Lasso（L1）：检验是否还能进一步压缩特征。若 Lasso 在不损失精度下将部分系数压为 0，说明前期筛选仍有冗余。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pic>
        <p:nvPicPr>
          <p:cNvPr id="12" name="图片 1" descr="deepseek_mermaid_20260605_e83b2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265" y="3676015"/>
            <a:ext cx="9611995" cy="14776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遇到的困难与解决方案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50000" y="115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8F4D"/>
                </a:solidFill>
                <a:latin typeface="微软雅黑" panose="020B0503020204020204" charset="-122"/>
              </a:rPr>
              <a:t>▎问题一：保证不同模型结果具有可比性</a:t>
            </a:r>
            <a:endParaRPr sz="15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50000" y="1480000"/>
            <a:ext cx="50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问题背景</a:t>
            </a:r>
            <a:endParaRPr sz="1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50265" y="1859280"/>
            <a:ext cx="4999990" cy="14027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建模由两位同学分别负责：
</a:t>
            </a:r>
            <a:r>
              <a:rPr sz="16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●</a:t>
            </a:r>
            <a:r>
              <a:rPr lang="en-US" sz="16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线性模型（OLS、Ridge、Lasso）
</a:t>
            </a:r>
            <a:r>
              <a:rPr sz="16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●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非线性模型（随机森林、XGBoost 等）
若使用不同的训练/测试集、不同的评价标准等，则结果无法直接比较。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50265" y="3261995"/>
            <a:ext cx="4999990" cy="3206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解决方案：建立统一实验框架</a:t>
            </a:r>
            <a:endParaRPr sz="1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265" y="3583305"/>
            <a:ext cx="499999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使用相同的数据划分：按 8:2 比例、随机种子 123 划分训练/测试集，并保存为共享文件，线性模型与树模型读取同一批样本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使用统一的评价函数 calc_metrics_unified.rds，同时输出 R²、RMSE_USD、MAE_USD 等指标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200000" y="115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8F4D"/>
                </a:solidFill>
                <a:latin typeface="微软雅黑" panose="020B0503020204020204" charset="-122"/>
              </a:rPr>
              <a:t>▎问题二：合成数据导致 R² 虚高</a:t>
            </a:r>
            <a:endParaRPr sz="15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200000" y="1480000"/>
            <a:ext cx="50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问题背景</a:t>
            </a:r>
            <a:endParaRPr sz="1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6200000" y="1720000"/>
            <a:ext cx="50000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本项目使用的是合成薪资数据集（按规则生成，非真实采集），特征与目标变量关系较强、规律性明显：
</a:t>
            </a:r>
            <a:r>
              <a:rPr sz="16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●</a:t>
            </a:r>
            <a:r>
              <a:rPr lang="en-US" sz="16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三个线性模型的 R² 均超过 0.93，远高于一般真实数据集水平。
</a:t>
            </a:r>
            <a:r>
              <a:rPr sz="16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●</a:t>
            </a:r>
            <a:r>
              <a:rPr lang="en-US" sz="16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风险：仅依赖 R² 可能高估模型的实际预测能力。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6200140" y="3212465"/>
            <a:ext cx="4999990" cy="6623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解决方案：多指标综合评价</a:t>
            </a:r>
            <a:endParaRPr sz="1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4745" y="3581400"/>
          <a:ext cx="5770880" cy="19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450"/>
                <a:gridCol w="2060575"/>
                <a:gridCol w="2649855"/>
              </a:tblGrid>
              <a:tr h="4851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关注内容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在本项目中的处理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R²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解释能力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作为参考，但不作为唯一标准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RMSE_USD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预测误差（美元）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重点关注，判断是否在业务可接受范围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MAE_USD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平均绝对误差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重点关注，评估模型偏差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模型训练与评估结果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265" y="899160"/>
            <a:ext cx="2499995" cy="424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▎训练设置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265" y="1337945"/>
            <a:ext cx="6675755" cy="970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OLS：使用特征工程阶段训练好的模型（无正则化）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Ridge：α=0，10折交叉验证自动选择 λ（λ 搜索范围 10⁻³ ~ 10³）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● Lasso：α=1，10折交叉验证自动选择 λ（相同搜索范围）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265" y="2465070"/>
            <a:ext cx="2499995" cy="2952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▎评估结果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265" y="2886075"/>
            <a:ext cx="9042400" cy="313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 panose="020B0503020204020204" charset="-122"/>
              </a:rPr>
              <a:t>注：CV-RMSE 为对数尺度下的交叉验证均方根误差，用于评估模型稳定性。</a:t>
            </a:r>
            <a:endParaRPr sz="1200" b="0">
              <a:solidFill>
                <a:srgbClr val="777777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50265" y="3199765"/>
          <a:ext cx="9224010" cy="1360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190"/>
                <a:gridCol w="1724660"/>
                <a:gridCol w="1896110"/>
                <a:gridCol w="1896745"/>
                <a:gridCol w="1551305"/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模型名称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R²_log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RMSE_USD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MAE_USD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CV_RMSE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OLS Baseline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0.9437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11,629.26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9,123.90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Lasso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0.9435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11,668.88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9,148.67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0.1125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Ridge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0.9385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12,027.18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9,329.35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0.1175</a:t>
                      </a:r>
                      <a:endParaRPr sz="14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50000" y="4952375"/>
            <a:ext cx="40000" cy="45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115" y="4762500"/>
            <a:ext cx="10429875" cy="783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★ 结论：</a:t>
            </a:r>
            <a:endParaRPr sz="1600" b="1">
              <a:solidFill>
                <a:srgbClr val="5C2D1A"/>
              </a:solidFill>
              <a:latin typeface="微软雅黑" panose="020B0503020204020204" charset="-122"/>
            </a:endParaRPr>
          </a:p>
          <a:p>
            <a:pPr algn="l"/>
            <a:r>
              <a:rPr lang="en-US" sz="1600" b="1">
                <a:solidFill>
                  <a:srgbClr val="5C2D1A"/>
                </a:solidFill>
                <a:latin typeface="微软雅黑" panose="020B0503020204020204" charset="-122"/>
              </a:rPr>
              <a:t>1.</a:t>
            </a:r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基准建立 — 三个线性模型均表现良好，为项目提供了可靠的线性基准。</a:t>
            </a:r>
            <a:endParaRPr sz="1600" b="1">
              <a:solidFill>
                <a:srgbClr val="5C2D1A"/>
              </a:solidFill>
              <a:latin typeface="微软雅黑" panose="020B0503020204020204" charset="-122"/>
            </a:endParaRPr>
          </a:p>
          <a:p>
            <a:pPr algn="l"/>
            <a:r>
              <a:rPr lang="en-US" sz="1600" b="1">
                <a:solidFill>
                  <a:srgbClr val="5C2D1A"/>
                </a:solidFill>
                <a:latin typeface="微软雅黑" panose="020B0503020204020204" charset="-122"/>
              </a:rPr>
              <a:t>2.</a:t>
            </a:r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Lasso 最优 — 精度与 OLS 持平，特征从 38 个压缩至 26 个，且稳定性优秀，兼顾预测能力与可解释性。</a:t>
            </a:r>
            <a:endParaRPr sz="1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pic>
        <p:nvPicPr>
          <p:cNvPr id="14" name="图片 2" descr="lasso_pred_vs_actual_u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9845" y="781685"/>
            <a:ext cx="2424430" cy="19399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0"/>
            <a:ext cx="3000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8F4D"/>
                </a:solidFill>
                <a:latin typeface="微软雅黑" panose="020B0503020204020204" charset="-122"/>
              </a:rPr>
              <a:t>0</a:t>
            </a:r>
            <a:r>
              <a:rPr lang="en-US" sz="7200" b="1">
                <a:solidFill>
                  <a:srgbClr val="B88F4D"/>
                </a:solidFill>
                <a:latin typeface="微软雅黑" panose="020B0503020204020204" charset="-122"/>
              </a:rPr>
              <a:t>6</a:t>
            </a:r>
            <a:endParaRPr lang="en-US" sz="72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0000" y="3100000"/>
            <a:ext cx="2500000" cy="36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3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2D1A"/>
                </a:solidFill>
                <a:latin typeface="微软雅黑" panose="020B0503020204020204" charset="-122"/>
              </a:rPr>
              <a:t>非线性模型建模</a:t>
            </a:r>
            <a:endParaRPr sz="3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40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 panose="020B0503020204020204" charset="-122"/>
              </a:rPr>
              <a:t>Non-linear Models — Random Forest &amp; XGBoost 优化与对比</a:t>
            </a:r>
            <a:endParaRPr sz="16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00" y="5800000"/>
            <a:ext cx="10500000" cy="1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Random Forest Model Performance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000" y="115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▎评估指标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50265" y="1529715"/>
          <a:ext cx="499999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995"/>
                <a:gridCol w="2499995"/>
              </a:tblGrid>
              <a:tr h="665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Metric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Result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665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R²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0.9416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665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RMSE (USD)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12,072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65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MAE (USD)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9,306</a:t>
                      </a:r>
                      <a:endParaRPr sz="16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0000" y="4800000"/>
            <a:ext cx="40000" cy="35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0115" y="4799965"/>
            <a:ext cx="10429875" cy="4102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5C2D1A"/>
                </a:solidFill>
                <a:latin typeface="微软雅黑" panose="020B0503020204020204" charset="-122"/>
              </a:rPr>
              <a:t>★ 随机森林模型能够较好拟合薪资数据，作为后续模型优化的基准模型</a:t>
            </a:r>
            <a:endParaRPr sz="1600" b="0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pic>
        <p:nvPicPr>
          <p:cNvPr id="11" name="图片 10" descr="rf特征重要性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745" y="1226185"/>
            <a:ext cx="5253355" cy="32035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XGBoost Model Optimization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0000" y="105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F4D"/>
                </a:solidFill>
                <a:latin typeface="微软雅黑" panose="020B0503020204020204" charset="-122"/>
              </a:rPr>
              <a:t>▎网格搜索参数与结果</a:t>
            </a:r>
            <a:endParaRPr sz="16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0240" y="1454150"/>
          <a:ext cx="5181600" cy="305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"/>
                <a:gridCol w="848360"/>
                <a:gridCol w="833120"/>
                <a:gridCol w="833120"/>
                <a:gridCol w="1047750"/>
                <a:gridCol w="104902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max_depth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eta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R²_log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RMSE_log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RMSE_USD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MAE_USD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0.05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0.9474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0.1090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11,391.37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8,947.78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0.9476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0.1088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11,356.17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8,912.62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0.9468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0.1096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11,422.64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8,950.66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0.05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0.9475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0.1089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11,371.88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8,921.76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0.9470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0.1095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11,439.20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8,944.90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0.9451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0.1114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11,655.16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9,046.13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0.05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0.9467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0.1097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11,450.99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8,955.85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0.9456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0.1109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11,578.16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9,006.25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0.9417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0.1147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12,005.49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9,273.24</a:t>
                      </a:r>
                      <a:endParaRPr sz="10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5000" y="4666615"/>
            <a:ext cx="5217160" cy="112014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B88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Final Performance    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ctr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R² = 0.9476      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ctr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RMSE = 11,356 USD      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ctr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 MAE = 8,913 USD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pic>
        <p:nvPicPr>
          <p:cNvPr id="12" name="图片 11" descr="xgb特征重要性图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7930" y="899795"/>
            <a:ext cx="4533900" cy="2578735"/>
          </a:xfrm>
          <a:prstGeom prst="rect">
            <a:avLst/>
          </a:prstGeom>
        </p:spPr>
      </p:pic>
      <p:pic>
        <p:nvPicPr>
          <p:cNvPr id="13" name="图片 12" descr="XGBoost Predi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720" y="3618230"/>
            <a:ext cx="4182110" cy="270637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34365" y="2145665"/>
            <a:ext cx="5217160" cy="353695"/>
          </a:xfrm>
          <a:prstGeom prst="rect">
            <a:avLst/>
          </a:prstGeom>
          <a:noFill/>
          <a:ln w="7620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150000"/>
            <a:ext cx="10700000" cy="1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10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2D1A"/>
                </a:solidFill>
                <a:latin typeface="微软雅黑" panose="020B0503020204020204" charset="-122"/>
              </a:rPr>
              <a:t>Model Comparison and Final Selection</a:t>
            </a:r>
            <a:endParaRPr sz="2600" b="1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0000" y="780000"/>
            <a:ext cx="1400000" cy="28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" y="220000"/>
            <a:ext cx="36000" cy="530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265" y="977900"/>
            <a:ext cx="3500120" cy="340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▎模型性能对比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50265" y="1317625"/>
          <a:ext cx="1109980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740"/>
                <a:gridCol w="2499995"/>
                <a:gridCol w="2800350"/>
                <a:gridCol w="2799715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Model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R²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RMSE (USD)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MAE (USD)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B88F4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Random Forest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0.9416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12,072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9,306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7F0E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XGBoost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0.9476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11,356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8,913</a:t>
                      </a:r>
                      <a:endParaRPr sz="1200" b="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4925" y="6116320"/>
            <a:ext cx="4603750" cy="65405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B88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88F4D"/>
                </a:solidFill>
                <a:latin typeface="微软雅黑" panose="020B0503020204020204" charset="-122"/>
              </a:rPr>
              <a:t>✓  Final Selected Model</a:t>
            </a:r>
            <a:endParaRPr sz="1800" b="1">
              <a:solidFill>
                <a:srgbClr val="B88F4D"/>
              </a:solidFill>
              <a:latin typeface="微软雅黑" panose="020B0503020204020204" charset="-122"/>
            </a:endParaRPr>
          </a:p>
          <a:p>
            <a:pPr algn="ctr"/>
            <a:r>
              <a:rPr sz="1600" b="1">
                <a:solidFill>
                  <a:srgbClr val="777777"/>
                </a:solidFill>
                <a:highlight>
                  <a:srgbClr val="FFFF00"/>
                </a:highlight>
                <a:latin typeface="微软雅黑" panose="020B0503020204020204" charset="-122"/>
              </a:rPr>
              <a:t>XGBoost</a:t>
            </a:r>
            <a:endParaRPr sz="1600" b="1">
              <a:solidFill>
                <a:srgbClr val="777777"/>
              </a:solidFill>
              <a:highlight>
                <a:srgbClr val="FFFF00"/>
              </a:highlight>
              <a:latin typeface="微软雅黑" panose="020B0503020204020204" charset="-122"/>
            </a:endParaRPr>
          </a:p>
        </p:txBody>
      </p:sp>
      <p:pic>
        <p:nvPicPr>
          <p:cNvPr id="11" name="图片 10" descr="Model performance 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372995"/>
            <a:ext cx="3984625" cy="3664585"/>
          </a:xfrm>
          <a:prstGeom prst="rect">
            <a:avLst/>
          </a:prstGeom>
        </p:spPr>
      </p:pic>
      <p:pic>
        <p:nvPicPr>
          <p:cNvPr id="12" name="图片 11" descr="PEC（RMSE USD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535" y="2369185"/>
            <a:ext cx="3987800" cy="36683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1300000"/>
            <a:ext cx="9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B88F4D"/>
                </a:solidFill>
                <a:latin typeface="微软雅黑" panose="020B0503020204020204" charset="-122"/>
              </a:rPr>
              <a:t>THANK YOU</a:t>
            </a:r>
            <a:endParaRPr sz="6000" b="1">
              <a:solidFill>
                <a:srgbClr val="B88F4D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0000" y="2450000"/>
            <a:ext cx="5200000" cy="2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000" y="2750000"/>
            <a:ext cx="9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5C2D1A"/>
                </a:solidFill>
                <a:latin typeface="微软雅黑" panose="020B0503020204020204" charset="-122"/>
              </a:rPr>
              <a:t>感谢聆听 · 欢迎提问与指导</a:t>
            </a:r>
            <a:endParaRPr sz="2400" b="0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0000" y="3500000"/>
            <a:ext cx="9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77777"/>
                </a:solidFill>
                <a:latin typeface="微软雅黑" panose="020B0503020204020204" charset="-122"/>
              </a:rPr>
              <a:t>全球AI与数据岗位薪资预测模型构建与分析</a:t>
            </a:r>
            <a:endParaRPr sz="1800" b="0">
              <a:solidFill>
                <a:srgbClr val="777777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00000" y="4300000"/>
            <a:ext cx="98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C2D1A"/>
                </a:solidFill>
                <a:latin typeface="微软雅黑" panose="020B0503020204020204" charset="-122"/>
              </a:rPr>
              <a:t>施</a:t>
            </a:r>
            <a:r>
              <a:rPr lang="zh-CN" sz="1600" b="0">
                <a:solidFill>
                  <a:srgbClr val="5C2D1A"/>
                </a:solidFill>
                <a:latin typeface="微软雅黑" panose="020B0503020204020204" charset="-122"/>
              </a:rPr>
              <a:t>佳琪</a:t>
            </a:r>
            <a:r>
              <a:rPr sz="1600" b="0">
                <a:solidFill>
                  <a:srgbClr val="5C2D1A"/>
                </a:solidFill>
                <a:latin typeface="微软雅黑" panose="020B0503020204020204" charset="-122"/>
              </a:rPr>
              <a:t>· </a:t>
            </a:r>
            <a:r>
              <a:rPr lang="zh-CN" altLang="en-US" sz="1600" b="0">
                <a:solidFill>
                  <a:srgbClr val="5C2D1A"/>
                </a:solidFill>
                <a:latin typeface="微软雅黑" panose="020B0503020204020204" charset="-122"/>
              </a:rPr>
              <a:t>徐梓涵</a:t>
            </a:r>
            <a:r>
              <a:rPr sz="1600" b="0">
                <a:solidFill>
                  <a:srgbClr val="5C2D1A"/>
                </a:solidFill>
                <a:latin typeface="微软雅黑" panose="020B0503020204020204" charset="-122"/>
              </a:rPr>
              <a:t> · </a:t>
            </a:r>
            <a:r>
              <a:rPr lang="zh-CN" altLang="en-US" sz="1600" b="0">
                <a:solidFill>
                  <a:srgbClr val="5C2D1A"/>
                </a:solidFill>
                <a:latin typeface="微软雅黑" panose="020B0503020204020204" charset="-122"/>
              </a:rPr>
              <a:t>汪彦廷</a:t>
            </a:r>
            <a:r>
              <a:rPr sz="1600" b="0">
                <a:solidFill>
                  <a:srgbClr val="5C2D1A"/>
                </a:solidFill>
                <a:latin typeface="微软雅黑" panose="020B0503020204020204" charset="-122"/>
              </a:rPr>
              <a:t> · </a:t>
            </a:r>
            <a:r>
              <a:rPr lang="zh-CN" altLang="en-US" sz="1600" b="0">
                <a:solidFill>
                  <a:srgbClr val="5C2D1A"/>
                </a:solidFill>
                <a:latin typeface="微软雅黑" panose="020B0503020204020204" charset="-122"/>
              </a:rPr>
              <a:t>黄梓涵</a:t>
            </a:r>
            <a:r>
              <a:rPr lang="en-US" altLang="zh-CN" sz="1600" b="0">
                <a:solidFill>
                  <a:srgbClr val="5C2D1A"/>
                </a:solidFill>
                <a:latin typeface="微软雅黑" panose="020B0503020204020204" charset="-122"/>
              </a:rPr>
              <a:t> </a:t>
            </a:r>
            <a:r>
              <a:rPr sz="1600">
                <a:solidFill>
                  <a:srgbClr val="5C2D1A"/>
                </a:solidFill>
                <a:latin typeface="微软雅黑" panose="020B0503020204020204" charset="-122"/>
                <a:sym typeface="+mn-ea"/>
              </a:rPr>
              <a:t>·</a:t>
            </a:r>
            <a:r>
              <a:rPr lang="en-US" sz="1600">
                <a:solidFill>
                  <a:srgbClr val="5C2D1A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lang="zh-CN" altLang="en-US" sz="1600" b="0">
                <a:solidFill>
                  <a:srgbClr val="5C2D1A"/>
                </a:solidFill>
                <a:latin typeface="微软雅黑" panose="020B0503020204020204" charset="-122"/>
              </a:rPr>
              <a:t>蒋蕊语</a:t>
            </a:r>
            <a:endParaRPr lang="zh-CN" altLang="en-US" sz="1600" b="0">
              <a:solidFill>
                <a:srgbClr val="5C2D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0000" y="4700000"/>
            <a:ext cx="9800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rgbClr val="777777"/>
                </a:solidFill>
                <a:latin typeface="微软雅黑" panose="020B0503020204020204" charset="-122"/>
              </a:rPr>
              <a:t>2026</a:t>
            </a:r>
            <a:r>
              <a:rPr lang="zh-CN" altLang="en-US" sz="1400" b="0">
                <a:solidFill>
                  <a:srgbClr val="777777"/>
                </a:solidFill>
                <a:latin typeface="微软雅黑" panose="020B0503020204020204" charset="-122"/>
              </a:rPr>
              <a:t>年</a:t>
            </a:r>
            <a:r>
              <a:rPr lang="en-US" altLang="zh-CN" sz="1400" b="0">
                <a:solidFill>
                  <a:srgbClr val="777777"/>
                </a:solidFill>
                <a:latin typeface="微软雅黑" panose="020B0503020204020204" charset="-122"/>
              </a:rPr>
              <a:t>6</a:t>
            </a:r>
            <a:r>
              <a:rPr lang="zh-CN" altLang="en-US" sz="1400" b="0">
                <a:solidFill>
                  <a:srgbClr val="777777"/>
                </a:solidFill>
                <a:latin typeface="微软雅黑" panose="020B0503020204020204" charset="-122"/>
              </a:rPr>
              <a:t>月</a:t>
            </a:r>
            <a:r>
              <a:rPr lang="en-US" altLang="zh-CN" sz="1400" b="0">
                <a:solidFill>
                  <a:srgbClr val="777777"/>
                </a:solidFill>
                <a:latin typeface="微软雅黑" panose="020B0503020204020204" charset="-122"/>
              </a:rPr>
              <a:t>9</a:t>
            </a:r>
            <a:r>
              <a:rPr lang="zh-CN" altLang="en-US" sz="1400" b="0">
                <a:solidFill>
                  <a:srgbClr val="777777"/>
                </a:solidFill>
                <a:latin typeface="微软雅黑" panose="020B0503020204020204" charset="-122"/>
              </a:rPr>
              <a:t>日</a:t>
            </a:r>
            <a:endParaRPr lang="zh-CN" altLang="en-US" sz="1400" b="0">
              <a:solidFill>
                <a:srgbClr val="777777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0000" y="5700000"/>
            <a:ext cx="9800000" cy="20000"/>
          </a:xfrm>
          <a:prstGeom prst="rect">
            <a:avLst/>
          </a:prstGeom>
          <a:solidFill>
            <a:srgbClr val="B8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2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3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4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5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6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7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8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9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10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11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12.xml><?xml version="1.0" encoding="utf-8"?>
<p:tagLst xmlns:p="http://schemas.openxmlformats.org/presentationml/2006/main">
  <p:tag name="KSO_WM_DIAGRAM_VIRTUALLY_FRAME" val="{&quot;height&quot;:303.27047244094484,&quot;left&quot;:125.98425196850394,&quot;top&quot;:133.0708661417323,&quot;width&quot;:602.3622047244095}"/>
</p:tagLst>
</file>

<file path=ppt/tags/tag13.xml><?xml version="1.0" encoding="utf-8"?>
<p:tagLst xmlns:p="http://schemas.openxmlformats.org/presentationml/2006/main">
  <p:tag name="TABLE_ENDDRAG_ORIGIN_RECT" val="866*170"/>
  <p:tag name="TABLE_ENDDRAG_RECT" val="70*221*866*170"/>
</p:tagLst>
</file>

<file path=ppt/tags/tag14.xml><?xml version="1.0" encoding="utf-8"?>
<p:tagLst xmlns:p="http://schemas.openxmlformats.org/presentationml/2006/main">
  <p:tag name="TABLE_ENDDRAG_ORIGIN_RECT" val="850*194"/>
  <p:tag name="TABLE_ENDDRAG_RECT" val="66*320*850*194"/>
</p:tagLst>
</file>

<file path=ppt/tags/tag15.xml><?xml version="1.0" encoding="utf-8"?>
<p:tagLst xmlns:p="http://schemas.openxmlformats.org/presentationml/2006/main">
  <p:tag name="TABLE_ENDDRAG_ORIGIN_RECT" val="603*151"/>
  <p:tag name="TABLE_ENDDRAG_RECT" val="66*315*603*151"/>
</p:tagLst>
</file>

<file path=ppt/tags/tag16.xml><?xml version="1.0" encoding="utf-8"?>
<p:tagLst xmlns:p="http://schemas.openxmlformats.org/presentationml/2006/main">
  <p:tag name="KSO_WM_DIAGRAM_VIRTUALLY_FRAME" val="{&quot;height&quot;:191.54881889763777,&quot;left&quot;:66.92913385826772,&quot;top&quot;:90.55118110236221,&quot;width&quot;:814.96062992126}"/>
</p:tagLst>
</file>

<file path=ppt/tags/tag17.xml><?xml version="1.0" encoding="utf-8"?>
<p:tagLst xmlns:p="http://schemas.openxmlformats.org/presentationml/2006/main">
  <p:tag name="KSO_WM_DIAGRAM_VIRTUALLY_FRAME" val="{&quot;height&quot;:191.54881889763777,&quot;left&quot;:66.92913385826772,&quot;top&quot;:90.55118110236221,&quot;width&quot;:814.96062992126}"/>
</p:tagLst>
</file>

<file path=ppt/tags/tag18.xml><?xml version="1.0" encoding="utf-8"?>
<p:tagLst xmlns:p="http://schemas.openxmlformats.org/presentationml/2006/main">
  <p:tag name="KSO_WM_DIAGRAM_VIRTUALLY_FRAME" val="{&quot;height&quot;:191.54881889763777,&quot;left&quot;:66.92913385826772,&quot;top&quot;:90.55118110236221,&quot;width&quot;:814.96062992126}"/>
</p:tagLst>
</file>

<file path=ppt/tags/tag19.xml><?xml version="1.0" encoding="utf-8"?>
<p:tagLst xmlns:p="http://schemas.openxmlformats.org/presentationml/2006/main">
  <p:tag name="KSO_WM_DIAGRAM_VIRTUALLY_FRAME" val="{&quot;height&quot;:191.54881889763777,&quot;left&quot;:66.92913385826772,&quot;top&quot;:90.55118110236221,&quot;width&quot;:814.96062992126}"/>
</p:tagLst>
</file>

<file path=ppt/tags/tag20.xml><?xml version="1.0" encoding="utf-8"?>
<p:tagLst xmlns:p="http://schemas.openxmlformats.org/presentationml/2006/main">
  <p:tag name="KSO_WM_DIAGRAM_VIRTUALLY_FRAME" val="{&quot;height&quot;:191.54881889763777,&quot;left&quot;:66.92913385826772,&quot;top&quot;:90.55118110236221,&quot;width&quot;:814.96062992126}"/>
</p:tagLst>
</file>

<file path=ppt/tags/tag21.xml><?xml version="1.0" encoding="utf-8"?>
<p:tagLst xmlns:p="http://schemas.openxmlformats.org/presentationml/2006/main">
  <p:tag name="KSO_WM_DIAGRAM_VIRTUALLY_FRAME" val="{&quot;height&quot;:191.54881889763777,&quot;left&quot;:66.92913385826772,&quot;top&quot;:90.55118110236221,&quot;width&quot;:814.96062992126}"/>
</p:tagLst>
</file>

<file path=ppt/tags/tag22.xml><?xml version="1.0" encoding="utf-8"?>
<p:tagLst xmlns:p="http://schemas.openxmlformats.org/presentationml/2006/main">
  <p:tag name="KSO_WM_DIAGRAM_VIRTUALLY_FRAME" val="{&quot;height&quot;:191.54881889763777,&quot;left&quot;:66.92913385826772,&quot;top&quot;:90.55118110236221,&quot;width&quot;:814.96062992126}"/>
</p:tagLst>
</file>

<file path=ppt/tags/tag23.xml><?xml version="1.0" encoding="utf-8"?>
<p:tagLst xmlns:p="http://schemas.openxmlformats.org/presentationml/2006/main">
  <p:tag name="KSO_WM_DIAGRAM_VIRTUALLY_FRAME" val="{&quot;height&quot;:191.54881889763777,&quot;left&quot;:66.92913385826772,&quot;top&quot;:90.55118110236221,&quot;width&quot;:814.96062992126}"/>
</p:tagLst>
</file>

<file path=ppt/tags/tag24.xml><?xml version="1.0" encoding="utf-8"?>
<p:tagLst xmlns:p="http://schemas.openxmlformats.org/presentationml/2006/main">
  <p:tag name="TABLE_ENDDRAG_ORIGIN_RECT" val="393*209"/>
  <p:tag name="TABLE_ENDDRAG_RECT" val="66*120*393*209"/>
</p:tagLst>
</file>

<file path=ppt/tags/tag25.xml><?xml version="1.0" encoding="utf-8"?>
<p:tagLst xmlns:p="http://schemas.openxmlformats.org/presentationml/2006/main">
  <p:tag name="TABLE_ENDDRAG_ORIGIN_RECT" val="874*82"/>
  <p:tag name="TABLE_ENDDRAG_RECT" val="66*103*874*82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6028</Words>
  <Application>WPS 演示</Application>
  <PresentationFormat>On-screen Show (4:3)</PresentationFormat>
  <Paragraphs>733</Paragraphs>
  <Slides>26</Slides>
  <Notes>19</Notes>
  <HiddenSlides>0</HiddenSlides>
  <MMClips>2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Wingdings</vt:lpstr>
      <vt:lpstr>Wingdings</vt:lpstr>
      <vt:lpstr>Arial Unicode MS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PC</dc:creator>
  <cp:lastModifiedBy>蒋蕊语</cp:lastModifiedBy>
  <cp:revision>336</cp:revision>
  <dcterms:created xsi:type="dcterms:W3CDTF">2019-06-19T02:08:00Z</dcterms:created>
  <dcterms:modified xsi:type="dcterms:W3CDTF">2026-07-04T03:20:18Z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7161775B934A4004A045A48E74FE89C7_13</vt:lpwstr>
  </property>
</Properties>
</file>